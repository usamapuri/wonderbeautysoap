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C_460B572A.xml" ContentType="application/vnd.ms-powerpoint.comments+xml"/>
  <Override PartName="/ppt/notesSlides/notesSlide18.xml" ContentType="application/vnd.openxmlformats-officedocument.presentationml.notesSlide+xml"/>
  <Override PartName="/ppt/comments/modernComment_117_C9F5BE7.xml" ContentType="application/vnd.ms-powerpoint.comments+xml"/>
  <Override PartName="/ppt/comments/modernComment_11A_139A4BF4.xml" ContentType="application/vnd.ms-powerpoint.comments+xml"/>
  <Override PartName="/ppt/comments/modernComment_121_C686BF05.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97" r:id="rId5"/>
    <p:sldId id="259" r:id="rId6"/>
    <p:sldId id="260" r:id="rId7"/>
    <p:sldId id="261" r:id="rId8"/>
    <p:sldId id="296" r:id="rId9"/>
    <p:sldId id="298" r:id="rId10"/>
    <p:sldId id="262" r:id="rId11"/>
    <p:sldId id="263" r:id="rId12"/>
    <p:sldId id="300" r:id="rId13"/>
    <p:sldId id="265" r:id="rId14"/>
    <p:sldId id="299" r:id="rId15"/>
    <p:sldId id="268" r:id="rId16"/>
    <p:sldId id="269" r:id="rId17"/>
    <p:sldId id="270" r:id="rId18"/>
    <p:sldId id="271" r:id="rId19"/>
    <p:sldId id="272" r:id="rId20"/>
    <p:sldId id="273" r:id="rId21"/>
    <p:sldId id="274" r:id="rId22"/>
    <p:sldId id="293" r:id="rId23"/>
    <p:sldId id="284" r:id="rId24"/>
    <p:sldId id="279" r:id="rId25"/>
    <p:sldId id="282" r:id="rId26"/>
    <p:sldId id="280" r:id="rId27"/>
    <p:sldId id="278" r:id="rId28"/>
    <p:sldId id="295" r:id="rId29"/>
    <p:sldId id="290" r:id="rId30"/>
    <p:sldId id="291" r:id="rId31"/>
    <p:sldId id="288" r:id="rId32"/>
    <p:sldId id="289" r:id="rId33"/>
    <p:sldId id="292"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0091319-8E1E-FFB1-5AAB-01E7DCAD70EF}">
          <p14:sldIdLst>
            <p14:sldId id="256"/>
          </p14:sldIdLst>
        </p14:section>
        <p14:section name="Overview" id="{E495A21F-C192-11B6-6FC3-8955F3070375}">
          <p14:sldIdLst>
            <p14:sldId id="257"/>
          </p14:sldIdLst>
        </p14:section>
        <p14:section name="Home" id="{8786A02C-C701-107D-5BA6-3BE6EB34C7EF}">
          <p14:sldIdLst>
            <p14:sldId id="258"/>
            <p14:sldId id="297"/>
            <p14:sldId id="259"/>
            <p14:sldId id="260"/>
            <p14:sldId id="261"/>
            <p14:sldId id="296"/>
            <p14:sldId id="298"/>
          </p14:sldIdLst>
        </p14:section>
        <p14:section name="Our Story" id="{E90F65CB-A3C0-AB17-0ED4-99E956F11DD4}">
          <p14:sldIdLst>
            <p14:sldId id="262"/>
            <p14:sldId id="263"/>
            <p14:sldId id="300"/>
            <p14:sldId id="265"/>
            <p14:sldId id="299"/>
            <p14:sldId id="268"/>
            <p14:sldId id="269"/>
          </p14:sldIdLst>
        </p14:section>
        <p14:section name="The Collection" id="{C4F014E1-BB67-75DC-4DB1-124B05BD9E01}">
          <p14:sldIdLst>
            <p14:sldId id="270"/>
          </p14:sldIdLst>
        </p14:section>
        <p14:section name="Around the World" id="{648475FB-7C32-6056-5249-D9947B49ED1B}">
          <p14:sldIdLst>
            <p14:sldId id="271"/>
          </p14:sldIdLst>
        </p14:section>
        <p14:section name="Get in Touch" id="{D78DA5EF-18C7-F29F-F400-7341E37D0E9A}">
          <p14:sldIdLst>
            <p14:sldId id="272"/>
          </p14:sldIdLst>
        </p14:section>
        <p14:section name="Notes" id="{7815E146-4E52-B523-72AA-AB65D1FCEEA1}">
          <p14:sldIdLst>
            <p14:sldId id="273"/>
            <p14:sldId id="274"/>
            <p14:sldId id="293"/>
            <p14:sldId id="284"/>
            <p14:sldId id="279"/>
            <p14:sldId id="282"/>
            <p14:sldId id="280"/>
            <p14:sldId id="278"/>
            <p14:sldId id="295"/>
            <p14:sldId id="290"/>
            <p14:sldId id="291"/>
            <p14:sldId id="288"/>
            <p14:sldId id="289"/>
            <p14:sldId id="29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81E7FE-BB1A-AF17-6065-F8EF021E5E96}" name="Ghazi Fareed" initials="GF" userId="fa0bff538d9db29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1" autoAdjust="0"/>
    <p:restoredTop sz="94610"/>
  </p:normalViewPr>
  <p:slideViewPr>
    <p:cSldViewPr snapToGrid="0" snapToObjects="1">
      <p:cViewPr varScale="1">
        <p:scale>
          <a:sx n="88" d="100"/>
          <a:sy n="88" d="100"/>
        </p:scale>
        <p:origin x="255"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omments/modernComment_11A_139A4BF4.xml><?xml version="1.0" encoding="utf-8"?>
<p188:cmLst xmlns:a="http://schemas.openxmlformats.org/drawingml/2006/main" xmlns:r="http://schemas.openxmlformats.org/officeDocument/2006/relationships" xmlns:p188="http://schemas.microsoft.com/office/powerpoint/2018/8/main">
  <p188:cm id="{B4D22651-5BE8-4A68-93D6-1839D4BE8F0E}" authorId="{EA81E7FE-BB1A-AF17-6065-F8EF021E5E96}" created="2026-10-23T03:32:23.686">
    <ac:deMkLst xmlns:ac="http://schemas.microsoft.com/office/drawing/2013/main/command">
      <pc:docMk xmlns:pc="http://schemas.microsoft.com/office/powerpoint/2013/main/command"/>
      <pc:sldMk xmlns:pc="http://schemas.microsoft.com/office/powerpoint/2013/main/command" cId="328879092" sldId="282"/>
      <ac:picMk id="5" creationId="{F90D7D9E-ADC3-F620-95DF-DBC0C31E0A76}"/>
    </ac:deMkLst>
    <p188:txBody>
      <a:bodyPr/>
      <a:lstStyle/>
      <a:p>
        <a:r>
          <a:rPr lang="en-GB"/>
          <a:t>Replace “Botanical varieties” with “ Wonderous Flavours”. Delete “Meet Wonder Beauty Soap”. Replace with “Meet our Wonderous Wonder Beauty Soap dressed in Coconut, Rose, Lavender, Lemon, &amp; Aloevera”. Remove “EXPLORE THE COLLECTION”. Replace with “Explore the Wonderous Collection”. Remove “DISCOVER WONDER”. Remove “01/05 THE WONDER RANGE”. </a:t>
        </a:r>
      </a:p>
    </p188:txBody>
  </p188:cm>
</p188:cmLst>
</file>

<file path=ppt/comments/modernComment_11C_460B572A.xml><?xml version="1.0" encoding="utf-8"?>
<p188:cmLst xmlns:a="http://schemas.openxmlformats.org/drawingml/2006/main" xmlns:r="http://schemas.openxmlformats.org/officeDocument/2006/relationships" xmlns:p188="http://schemas.microsoft.com/office/powerpoint/2018/8/main">
  <p188:cm id="{9D6064D1-787D-433B-B4A1-2378D69A0A4F}" authorId="{EA81E7FE-BB1A-AF17-6065-F8EF021E5E96}" created="2026-10-23T02:42:56.075">
    <pc:sldMkLst xmlns:pc="http://schemas.microsoft.com/office/powerpoint/2013/main/command">
      <pc:docMk/>
      <pc:sldMk cId="1175148330" sldId="284"/>
    </pc:sldMkLst>
    <p188:txBody>
      <a:bodyPr/>
      <a:lstStyle/>
      <a:p>
        <a:r>
          <a:rPr lang="en-GB"/>
          <a:t>The Company name is Royal Basket. Replace “WONDER BEAUTY SOAP” on the left hand side with Royal Basket Logo. Choose the one of the left. </a:t>
        </a:r>
      </a:p>
    </p188:txBody>
  </p188:cm>
</p188:cmLst>
</file>

<file path=ppt/comments/modernComment_117_C9F5BE7.xml><?xml version="1.0" encoding="utf-8"?>
<p188:cmLst xmlns:a="http://schemas.openxmlformats.org/drawingml/2006/main" xmlns:r="http://schemas.openxmlformats.org/officeDocument/2006/relationships" xmlns:p188="http://schemas.microsoft.com/office/powerpoint/2018/8/main">
  <p188:cm id="{3A4CA506-E9E0-474E-9855-5E968449A5EE}" authorId="{EA81E7FE-BB1A-AF17-6065-F8EF021E5E96}" created="2026-10-23T04:09:11.189">
    <pc:sldMkLst xmlns:pc="http://schemas.microsoft.com/office/powerpoint/2013/main/command">
      <pc:docMk/>
      <pc:sldMk cId="211770343" sldId="279"/>
    </pc:sldMkLst>
    <p188:txBody>
      <a:bodyPr/>
      <a:lstStyle/>
      <a:p>
        <a:r>
          <a:rPr lang="en-GB"/>
          <a:t>Keep the “HOME” tab. Second tab from the left should be “OUR STORY”. Third tab should be “The Collection”.  Fourth tab should be “Around the World”. Fifth tab should be “Get in Touch”. Remove the first line “WONDER BEAUTY SOAP. A BEAUTY BAR FOR EVERY DAY”. </a:t>
        </a:r>
      </a:p>
    </p188:txBody>
  </p188:cm>
</p188:cmLst>
</file>

<file path=ppt/comments/modernComment_121_C686BF05.xml><?xml version="1.0" encoding="utf-8"?>
<p188:cmLst xmlns:a="http://schemas.openxmlformats.org/drawingml/2006/main" xmlns:r="http://schemas.openxmlformats.org/officeDocument/2006/relationships" xmlns:p188="http://schemas.microsoft.com/office/powerpoint/2018/8/main">
  <p188:cm id="{0D4A9471-7A6A-4024-A71A-C6453CAE543D}" authorId="{EA81E7FE-BB1A-AF17-6065-F8EF021E5E96}" created="2026-10-21T23:45:14.401">
    <pc:sldMkLst xmlns:pc="http://schemas.microsoft.com/office/powerpoint/2013/main/command">
      <pc:docMk/>
      <pc:sldMk cId="3330719493" sldId="273"/>
    </pc:sldMkLst>
    <p188:txBody>
      <a:bodyPr/>
      <a:lstStyle/>
      <a:p>
        <a:r>
          <a:rPr lang="en-GB"/>
          <a:t>MAKE IT AN AI VIDEO. WITH SAME BATHROOM SETUP AND BUVBLLES ANS HSOW WONDER SOAP SHAPE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8439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site tab "In the city" is renamed "Around the World".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line is the bold heading.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better way to wrap luxury" works as a sub-heading. "Every scent tells a story." is the closing tagline.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second vision line: "To become the most loved everyday beauty bar in the region, and a name that travels."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4541-6894-8DE5-6591-71DA3A8D0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A26D2-42C8-B45B-09EC-14DF0791E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DD806-4562-0BCF-BE58-0AE8EAACF33E}"/>
              </a:ext>
            </a:extLst>
          </p:cNvPr>
          <p:cNvSpPr>
            <a:spLocks noGrp="1"/>
          </p:cNvSpPr>
          <p:nvPr>
            <p:ph type="body" idx="1"/>
          </p:nvPr>
        </p:nvSpPr>
        <p:spPr/>
        <p:txBody>
          <a:bodyPr/>
          <a:lstStyle/>
          <a:p>
            <a:r>
              <a:rPr lang="en-US" dirty="0"/>
              <a:t>Optional second vision line: "To become the most loved everyday beauty bar in the region, and a name that travels."</a:t>
            </a:r>
          </a:p>
        </p:txBody>
      </p:sp>
      <p:sp>
        <p:nvSpPr>
          <p:cNvPr id="4" name="Slide Number Placeholder 3">
            <a:extLst>
              <a:ext uri="{FF2B5EF4-FFF2-40B4-BE49-F238E27FC236}">
                <a16:creationId xmlns:a16="http://schemas.microsoft.com/office/drawing/2014/main" id="{C76ED3F6-BE45-5C5E-4282-02817EEB0D8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92217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wording. Ali to approve.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7546C07-550A-489E-9488-C7D0F42D3501}" type="slidenum">
              <a:rPr lang="en-GB" smtClean="0"/>
              <a:t>24</a:t>
            </a:fld>
            <a:endParaRPr lang="en-GB"/>
          </a:p>
        </p:txBody>
      </p:sp>
    </p:spTree>
    <p:extLst>
      <p:ext uri="{BB962C8B-B14F-4D97-AF65-F5344CB8AC3E}">
        <p14:creationId xmlns:p14="http://schemas.microsoft.com/office/powerpoint/2010/main" val="4237152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B8902F"/>
          </a:solidFill>
          <a:ln/>
        </p:spPr>
        <p:txBody>
          <a:bodyPr/>
          <a:lstStyle/>
          <a:p>
            <a:endParaRPr lang="en-GB"/>
          </a:p>
        </p:txBody>
      </p:sp>
      <p:sp>
        <p:nvSpPr>
          <p:cNvPr id="3" name="Text 1"/>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A6A1F"/>
                </a:solidFill>
              </a:rPr>
              <a:t>WONDER BEAUTY SOAP · Website brief</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7F1E3"/>
        </a:solidFill>
        <a:effectLst/>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8902F"/>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11FFD-64F2-AA7E-F4BD-03E6654A88A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5AEB3BB7-399A-33CE-EE3C-CE95F64C1A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6CA57C8-3DA6-F80F-D651-A2E16CB7C1CA}"/>
              </a:ext>
            </a:extLst>
          </p:cNvPr>
          <p:cNvSpPr>
            <a:spLocks noGrp="1"/>
          </p:cNvSpPr>
          <p:nvPr>
            <p:ph type="dt" sz="half" idx="10"/>
          </p:nvPr>
        </p:nvSpPr>
        <p:spPr/>
        <p:txBody>
          <a:bodyPr/>
          <a:lstStyle/>
          <a:p>
            <a:fld id="{CF49AE9E-F7CC-438C-AB83-0888FFA129C3}" type="datetimeFigureOut">
              <a:rPr lang="en-GB" smtClean="0"/>
              <a:t>24/10/2026</a:t>
            </a:fld>
            <a:endParaRPr lang="en-GB"/>
          </a:p>
        </p:txBody>
      </p:sp>
      <p:sp>
        <p:nvSpPr>
          <p:cNvPr id="5" name="Footer Placeholder 4">
            <a:extLst>
              <a:ext uri="{FF2B5EF4-FFF2-40B4-BE49-F238E27FC236}">
                <a16:creationId xmlns:a16="http://schemas.microsoft.com/office/drawing/2014/main" id="{8C521874-0573-8D0C-83B6-9998E07C61C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6AF036-5BD3-B243-FA26-284D993ADDA9}"/>
              </a:ext>
            </a:extLst>
          </p:cNvPr>
          <p:cNvSpPr>
            <a:spLocks noGrp="1"/>
          </p:cNvSpPr>
          <p:nvPr>
            <p:ph type="sldNum" sz="quarter" idx="12"/>
          </p:nvPr>
        </p:nvSpPr>
        <p:spPr/>
        <p:txBody>
          <a:bodyPr/>
          <a:lstStyle/>
          <a:p>
            <a:fld id="{55DAD7F6-4AB7-4BEF-ABF7-EEC031420920}" type="slidenum">
              <a:rPr lang="en-GB" smtClean="0"/>
              <a:t>‹#›</a:t>
            </a:fld>
            <a:endParaRPr lang="en-GB"/>
          </a:p>
        </p:txBody>
      </p:sp>
    </p:spTree>
    <p:extLst>
      <p:ext uri="{BB962C8B-B14F-4D97-AF65-F5344CB8AC3E}">
        <p14:creationId xmlns:p14="http://schemas.microsoft.com/office/powerpoint/2010/main" val="2267068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4424D-49BA-7B64-FE1C-49B0A0DBCB7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B9851B6-BCC5-9ACD-4B81-0100B6F7A68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FBA32B1-0EEB-5971-6588-19EEFB1530CE}"/>
              </a:ext>
            </a:extLst>
          </p:cNvPr>
          <p:cNvSpPr>
            <a:spLocks noGrp="1"/>
          </p:cNvSpPr>
          <p:nvPr>
            <p:ph type="dt" sz="half" idx="10"/>
          </p:nvPr>
        </p:nvSpPr>
        <p:spPr/>
        <p:txBody>
          <a:bodyPr/>
          <a:lstStyle/>
          <a:p>
            <a:fld id="{CF49AE9E-F7CC-438C-AB83-0888FFA129C3}" type="datetimeFigureOut">
              <a:rPr lang="en-GB" smtClean="0"/>
              <a:t>24/10/2026</a:t>
            </a:fld>
            <a:endParaRPr lang="en-GB"/>
          </a:p>
        </p:txBody>
      </p:sp>
      <p:sp>
        <p:nvSpPr>
          <p:cNvPr id="5" name="Footer Placeholder 4">
            <a:extLst>
              <a:ext uri="{FF2B5EF4-FFF2-40B4-BE49-F238E27FC236}">
                <a16:creationId xmlns:a16="http://schemas.microsoft.com/office/drawing/2014/main" id="{9D26D22C-F451-D0DB-104C-F2A54E4D69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DF40E8-C662-FF33-76C4-C7F0402A4BF9}"/>
              </a:ext>
            </a:extLst>
          </p:cNvPr>
          <p:cNvSpPr>
            <a:spLocks noGrp="1"/>
          </p:cNvSpPr>
          <p:nvPr>
            <p:ph type="sldNum" sz="quarter" idx="12"/>
          </p:nvPr>
        </p:nvSpPr>
        <p:spPr/>
        <p:txBody>
          <a:bodyPr/>
          <a:lstStyle/>
          <a:p>
            <a:fld id="{55DAD7F6-4AB7-4BEF-ABF7-EEC031420920}" type="slidenum">
              <a:rPr lang="en-GB" smtClean="0"/>
              <a:t>‹#›</a:t>
            </a:fld>
            <a:endParaRPr lang="en-GB"/>
          </a:p>
        </p:txBody>
      </p:sp>
    </p:spTree>
    <p:extLst>
      <p:ext uri="{BB962C8B-B14F-4D97-AF65-F5344CB8AC3E}">
        <p14:creationId xmlns:p14="http://schemas.microsoft.com/office/powerpoint/2010/main" val="8630771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11C_460B572A.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microsoft.com/office/2018/10/relationships/comments" Target="../comments/modernComment_117_C9F5BE7.xm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1A_139A4BF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121_C686BF05.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97280" y="2011680"/>
            <a:ext cx="10058400" cy="1280160"/>
          </a:xfrm>
          <a:prstGeom prst="rect">
            <a:avLst/>
          </a:prstGeom>
          <a:noFill/>
          <a:ln/>
        </p:spPr>
        <p:txBody>
          <a:bodyPr wrap="square" lIns="0" tIns="0" rIns="0" bIns="0" rtlCol="0" anchor="ctr"/>
          <a:lstStyle/>
          <a:p>
            <a:pPr marL="0" indent="0">
              <a:buNone/>
            </a:pPr>
            <a:r>
              <a:rPr lang="en-US" sz="4800" b="1" dirty="0">
                <a:solidFill>
                  <a:schemeClr val="tx1"/>
                </a:solidFill>
                <a:latin typeface="Georgia" pitchFamily="34" charset="0"/>
                <a:ea typeface="Georgia" pitchFamily="34" charset="-122"/>
                <a:cs typeface="Georgia" pitchFamily="34" charset="-120"/>
              </a:rPr>
              <a:t>Wonder Beauty Soap</a:t>
            </a:r>
            <a:endParaRPr lang="en-US" sz="4800" dirty="0"/>
          </a:p>
        </p:txBody>
      </p:sp>
      <p:sp>
        <p:nvSpPr>
          <p:cNvPr id="3" name="Text 1"/>
          <p:cNvSpPr txBox="1"/>
          <p:nvPr/>
        </p:nvSpPr>
        <p:spPr>
          <a:xfrm>
            <a:off x="1097280" y="3383280"/>
            <a:ext cx="10058400" cy="548640"/>
          </a:xfrm>
          <a:prstGeom prst="rect">
            <a:avLst/>
          </a:prstGeom>
          <a:noFill/>
          <a:ln/>
        </p:spPr>
        <p:txBody>
          <a:bodyPr wrap="square" lIns="0" tIns="0" rIns="0" bIns="0" rtlCol="0" anchor="t"/>
          <a:lstStyle/>
          <a:p>
            <a:pPr marL="0" indent="0">
              <a:buNone/>
            </a:pPr>
            <a:endParaRPr lang="en-US" sz="2400" dirty="0"/>
          </a:p>
        </p:txBody>
      </p:sp>
      <p:sp>
        <p:nvSpPr>
          <p:cNvPr id="4" name="Text 2"/>
          <p:cNvSpPr txBox="1"/>
          <p:nvPr/>
        </p:nvSpPr>
        <p:spPr>
          <a:xfrm>
            <a:off x="1097280" y="4114800"/>
            <a:ext cx="9144000" cy="822960"/>
          </a:xfrm>
          <a:prstGeom prst="rect">
            <a:avLst/>
          </a:prstGeom>
          <a:noFill/>
          <a:ln/>
        </p:spPr>
        <p:txBody>
          <a:bodyPr wrap="square" lIns="0" tIns="0" rIns="0" bIns="0" rtlCol="0" anchor="t"/>
          <a:lstStyle/>
          <a:p>
            <a:pPr marL="0" indent="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Site structure: 5 tabs, in this order</a:t>
            </a:r>
            <a:endParaRPr lang="en-US" sz="3000" dirty="0"/>
          </a:p>
        </p:txBody>
      </p:sp>
      <p:sp>
        <p:nvSpPr>
          <p:cNvPr id="3" name="num1"/>
          <p:cNvSpPr/>
          <p:nvPr/>
        </p:nvSpPr>
        <p:spPr>
          <a:xfrm>
            <a:off x="548640" y="14630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4" name="Text 2"/>
          <p:cNvSpPr txBox="1"/>
          <p:nvPr/>
        </p:nvSpPr>
        <p:spPr>
          <a:xfrm>
            <a:off x="548640" y="14630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5" name="Text 3"/>
          <p:cNvSpPr txBox="1"/>
          <p:nvPr/>
        </p:nvSpPr>
        <p:spPr>
          <a:xfrm>
            <a:off x="1463040" y="1463040"/>
            <a:ext cx="3291840" cy="640080"/>
          </a:xfrm>
          <a:prstGeom prst="rect">
            <a:avLst/>
          </a:prstGeom>
          <a:noFill/>
          <a:ln/>
        </p:spPr>
        <p:txBody>
          <a:bodyPr wrap="square" lIns="0" tIns="0" rIns="0" bIns="0" rtlCol="0" anchor="ctr"/>
          <a:lstStyle/>
          <a:p>
            <a:pPr marL="0" indent="0">
              <a:buNone/>
            </a:pPr>
            <a:r>
              <a:rPr lang="en-US" sz="2200" b="1" dirty="0">
                <a:solidFill>
                  <a:schemeClr val="tx1"/>
                </a:solidFill>
              </a:rPr>
              <a:t>Home</a:t>
            </a:r>
            <a:endParaRPr lang="en-US" sz="2200" dirty="0"/>
          </a:p>
        </p:txBody>
      </p:sp>
      <p:sp>
        <p:nvSpPr>
          <p:cNvPr id="6" name="Text 4"/>
          <p:cNvSpPr txBox="1"/>
          <p:nvPr/>
        </p:nvSpPr>
        <p:spPr>
          <a:xfrm>
            <a:off x="4754880" y="1463040"/>
            <a:ext cx="6858000" cy="640080"/>
          </a:xfrm>
          <a:prstGeom prst="rect">
            <a:avLst/>
          </a:prstGeom>
          <a:noFill/>
          <a:ln/>
        </p:spPr>
        <p:txBody>
          <a:bodyPr wrap="square" lIns="0" tIns="0" rIns="0" bIns="0" rtlCol="0" anchor="ctr"/>
          <a:lstStyle/>
          <a:p>
            <a:pPr marL="0" indent="0">
              <a:buNone/>
            </a:pPr>
            <a:r>
              <a:rPr lang="en-US" sz="1500" dirty="0">
                <a:solidFill>
                  <a:schemeClr val="tx1"/>
                </a:solidFill>
              </a:rPr>
              <a:t>Welcome, mission and vision, numbers, products, where we are sold</a:t>
            </a:r>
            <a:endParaRPr lang="en-US" sz="1500" dirty="0"/>
          </a:p>
        </p:txBody>
      </p:sp>
      <p:sp>
        <p:nvSpPr>
          <p:cNvPr id="7" name="num2"/>
          <p:cNvSpPr/>
          <p:nvPr/>
        </p:nvSpPr>
        <p:spPr>
          <a:xfrm>
            <a:off x="548640" y="23774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8" name="Text 6"/>
          <p:cNvSpPr txBox="1"/>
          <p:nvPr/>
        </p:nvSpPr>
        <p:spPr>
          <a:xfrm>
            <a:off x="548640" y="23774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7"/>
          <p:cNvSpPr txBox="1"/>
          <p:nvPr/>
        </p:nvSpPr>
        <p:spPr>
          <a:xfrm>
            <a:off x="1463040" y="2377440"/>
            <a:ext cx="3291840" cy="640080"/>
          </a:xfrm>
          <a:prstGeom prst="rect">
            <a:avLst/>
          </a:prstGeom>
          <a:noFill/>
          <a:ln/>
        </p:spPr>
        <p:txBody>
          <a:bodyPr wrap="square" lIns="0" tIns="0" rIns="0" bIns="0" rtlCol="0" anchor="ctr"/>
          <a:lstStyle/>
          <a:p>
            <a:pPr marL="0" indent="0">
              <a:buNone/>
            </a:pPr>
            <a:r>
              <a:rPr lang="en-US" sz="2200" b="1" dirty="0">
                <a:solidFill>
                  <a:schemeClr val="tx1"/>
                </a:solidFill>
              </a:rPr>
              <a:t>Our Story</a:t>
            </a:r>
            <a:endParaRPr lang="en-US" sz="2200" dirty="0"/>
          </a:p>
        </p:txBody>
      </p:sp>
      <p:sp>
        <p:nvSpPr>
          <p:cNvPr id="10" name="Text 8"/>
          <p:cNvSpPr txBox="1"/>
          <p:nvPr/>
        </p:nvSpPr>
        <p:spPr>
          <a:xfrm>
            <a:off x="4754880" y="2377440"/>
            <a:ext cx="6858000" cy="640080"/>
          </a:xfrm>
          <a:prstGeom prst="rect">
            <a:avLst/>
          </a:prstGeom>
          <a:noFill/>
          <a:ln/>
        </p:spPr>
        <p:txBody>
          <a:bodyPr wrap="square" lIns="0" tIns="0" rIns="0" bIns="0" rtlCol="0" anchor="ctr"/>
          <a:lstStyle/>
          <a:p>
            <a:pPr marL="0" indent="0">
              <a:buNone/>
            </a:pPr>
            <a:r>
              <a:rPr lang="en-US" sz="1500" dirty="0">
                <a:solidFill>
                  <a:schemeClr val="tx1"/>
                </a:solidFill>
              </a:rPr>
              <a:t>Who we are, why Wonder, the story, team, Director and CEO notes</a:t>
            </a:r>
            <a:endParaRPr lang="en-US" sz="1500" dirty="0"/>
          </a:p>
        </p:txBody>
      </p:sp>
      <p:sp>
        <p:nvSpPr>
          <p:cNvPr id="11" name="num3"/>
          <p:cNvSpPr/>
          <p:nvPr/>
        </p:nvSpPr>
        <p:spPr>
          <a:xfrm>
            <a:off x="548640" y="32918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2" name="Text 10"/>
          <p:cNvSpPr txBox="1"/>
          <p:nvPr/>
        </p:nvSpPr>
        <p:spPr>
          <a:xfrm>
            <a:off x="548640" y="32918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3" name="Text 11"/>
          <p:cNvSpPr txBox="1"/>
          <p:nvPr/>
        </p:nvSpPr>
        <p:spPr>
          <a:xfrm>
            <a:off x="1463040" y="3291840"/>
            <a:ext cx="3291840" cy="640080"/>
          </a:xfrm>
          <a:prstGeom prst="rect">
            <a:avLst/>
          </a:prstGeom>
          <a:noFill/>
          <a:ln/>
        </p:spPr>
        <p:txBody>
          <a:bodyPr wrap="square" lIns="0" tIns="0" rIns="0" bIns="0" rtlCol="0" anchor="ctr"/>
          <a:lstStyle/>
          <a:p>
            <a:pPr marL="0" indent="0">
              <a:buNone/>
            </a:pPr>
            <a:r>
              <a:rPr lang="en-US" sz="2200" b="1" dirty="0">
                <a:solidFill>
                  <a:schemeClr val="tx1"/>
                </a:solidFill>
              </a:rPr>
              <a:t>The Collection</a:t>
            </a:r>
            <a:endParaRPr lang="en-US" sz="2200" dirty="0"/>
          </a:p>
        </p:txBody>
      </p:sp>
      <p:sp>
        <p:nvSpPr>
          <p:cNvPr id="14" name="Text 12"/>
          <p:cNvSpPr txBox="1"/>
          <p:nvPr/>
        </p:nvSpPr>
        <p:spPr>
          <a:xfrm>
            <a:off x="4754880" y="3291840"/>
            <a:ext cx="6858000" cy="640080"/>
          </a:xfrm>
          <a:prstGeom prst="rect">
            <a:avLst/>
          </a:prstGeom>
          <a:noFill/>
          <a:ln/>
        </p:spPr>
        <p:txBody>
          <a:bodyPr wrap="square" lIns="0" tIns="0" rIns="0" bIns="0" rtlCol="0" anchor="ctr"/>
          <a:lstStyle/>
          <a:p>
            <a:pPr marL="0" indent="0">
              <a:buNone/>
            </a:pPr>
            <a:r>
              <a:rPr lang="en-US" sz="1500" dirty="0">
                <a:solidFill>
                  <a:schemeClr val="tx1"/>
                </a:solidFill>
              </a:rPr>
              <a:t>Rose, Lavender, Aloe Vera, Lemon, Coconut</a:t>
            </a:r>
            <a:endParaRPr lang="en-US" sz="1500" dirty="0"/>
          </a:p>
        </p:txBody>
      </p:sp>
      <p:sp>
        <p:nvSpPr>
          <p:cNvPr id="15" name="num4"/>
          <p:cNvSpPr/>
          <p:nvPr/>
        </p:nvSpPr>
        <p:spPr>
          <a:xfrm>
            <a:off x="548640" y="42062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6" name="Text 14"/>
          <p:cNvSpPr txBox="1"/>
          <p:nvPr/>
        </p:nvSpPr>
        <p:spPr>
          <a:xfrm>
            <a:off x="548640" y="42062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7" name="Text 15"/>
          <p:cNvSpPr txBox="1"/>
          <p:nvPr/>
        </p:nvSpPr>
        <p:spPr>
          <a:xfrm>
            <a:off x="1463040" y="4206240"/>
            <a:ext cx="3291840" cy="640080"/>
          </a:xfrm>
          <a:prstGeom prst="rect">
            <a:avLst/>
          </a:prstGeom>
          <a:noFill/>
          <a:ln/>
        </p:spPr>
        <p:txBody>
          <a:bodyPr wrap="square" lIns="0" tIns="0" rIns="0" bIns="0" rtlCol="0" anchor="ctr"/>
          <a:lstStyle/>
          <a:p>
            <a:pPr marL="0" indent="0">
              <a:buNone/>
            </a:pPr>
            <a:r>
              <a:rPr lang="en-US" sz="2200" b="1" dirty="0">
                <a:solidFill>
                  <a:schemeClr val="tx1"/>
                </a:solidFill>
              </a:rPr>
              <a:t>Around the World</a:t>
            </a:r>
            <a:endParaRPr lang="en-US" sz="2200" dirty="0"/>
          </a:p>
        </p:txBody>
      </p:sp>
      <p:sp>
        <p:nvSpPr>
          <p:cNvPr id="18" name="Text 16"/>
          <p:cNvSpPr txBox="1"/>
          <p:nvPr/>
        </p:nvSpPr>
        <p:spPr>
          <a:xfrm>
            <a:off x="4754880" y="4206240"/>
            <a:ext cx="6858000" cy="640080"/>
          </a:xfrm>
          <a:prstGeom prst="rect">
            <a:avLst/>
          </a:prstGeom>
          <a:noFill/>
          <a:ln/>
        </p:spPr>
        <p:txBody>
          <a:bodyPr wrap="square" lIns="0" tIns="0" rIns="0" bIns="0" rtlCol="0" anchor="ctr"/>
          <a:lstStyle/>
          <a:p>
            <a:pPr marL="0" indent="0">
              <a:buNone/>
            </a:pPr>
            <a:r>
              <a:rPr lang="en-US" sz="1500" dirty="0">
                <a:solidFill>
                  <a:schemeClr val="tx1"/>
                </a:solidFill>
              </a:rPr>
              <a:t>Global presence through pictures and videos</a:t>
            </a:r>
            <a:endParaRPr lang="en-US" sz="1500" dirty="0"/>
          </a:p>
        </p:txBody>
      </p:sp>
      <p:sp>
        <p:nvSpPr>
          <p:cNvPr id="19" name="num5"/>
          <p:cNvSpPr/>
          <p:nvPr/>
        </p:nvSpPr>
        <p:spPr>
          <a:xfrm>
            <a:off x="548640" y="512064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20" name="Text 18"/>
          <p:cNvSpPr txBox="1"/>
          <p:nvPr/>
        </p:nvSpPr>
        <p:spPr>
          <a:xfrm>
            <a:off x="548640" y="51206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1" name="Text 19"/>
          <p:cNvSpPr txBox="1"/>
          <p:nvPr/>
        </p:nvSpPr>
        <p:spPr>
          <a:xfrm>
            <a:off x="1463040" y="5120640"/>
            <a:ext cx="3291840" cy="640080"/>
          </a:xfrm>
          <a:prstGeom prst="rect">
            <a:avLst/>
          </a:prstGeom>
          <a:noFill/>
          <a:ln/>
        </p:spPr>
        <p:txBody>
          <a:bodyPr wrap="square" lIns="0" tIns="0" rIns="0" bIns="0" rtlCol="0" anchor="ctr"/>
          <a:lstStyle/>
          <a:p>
            <a:pPr marL="0" indent="0">
              <a:buNone/>
            </a:pPr>
            <a:r>
              <a:rPr lang="en-US" sz="2200" b="1" dirty="0">
                <a:solidFill>
                  <a:schemeClr val="tx1"/>
                </a:solidFill>
              </a:rPr>
              <a:t>Get in Touch</a:t>
            </a:r>
            <a:endParaRPr lang="en-US" sz="2200" dirty="0"/>
          </a:p>
        </p:txBody>
      </p:sp>
      <p:sp>
        <p:nvSpPr>
          <p:cNvPr id="22" name="Text 20"/>
          <p:cNvSpPr txBox="1"/>
          <p:nvPr/>
        </p:nvSpPr>
        <p:spPr>
          <a:xfrm>
            <a:off x="4754880" y="5120640"/>
            <a:ext cx="6858000" cy="640080"/>
          </a:xfrm>
          <a:prstGeom prst="rect">
            <a:avLst/>
          </a:prstGeom>
          <a:noFill/>
          <a:ln/>
        </p:spPr>
        <p:txBody>
          <a:bodyPr wrap="square" lIns="0" tIns="0" rIns="0" bIns="0" rtlCol="0" anchor="ctr"/>
          <a:lstStyle/>
          <a:p>
            <a:pPr marL="0" indent="0">
              <a:buNone/>
            </a:pPr>
            <a:r>
              <a:rPr lang="en-US" sz="1500" dirty="0">
                <a:solidFill>
                  <a:schemeClr val="tx1"/>
                </a:solidFill>
              </a:rPr>
              <a:t>Query form and socials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Home: sections in order</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Welcome note (summary of the company)</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Mission </a:t>
            </a:r>
          </a:p>
          <a:p>
            <a:pPr marL="342900" indent="-342900">
              <a:spcAft>
                <a:spcPts val="800"/>
              </a:spcAft>
              <a:buSzPct val="100000"/>
              <a:buChar char="•"/>
            </a:pPr>
            <a:r>
              <a:rPr lang="en-US" sz="2000" dirty="0">
                <a:latin typeface="Calibri" pitchFamily="34" charset="0"/>
                <a:ea typeface="Calibri" pitchFamily="34" charset="-122"/>
                <a:cs typeface="Calibri" pitchFamily="34" charset="-120"/>
              </a:rPr>
              <a:t>visual</a:t>
            </a:r>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Vision</a:t>
            </a:r>
          </a:p>
          <a:p>
            <a:pPr marL="342900" indent="-342900">
              <a:spcAft>
                <a:spcPts val="800"/>
              </a:spcAft>
              <a:buSzPct val="100000"/>
              <a:buChar char="•"/>
            </a:pPr>
            <a:r>
              <a:rPr lang="en-US" sz="2000" dirty="0">
                <a:latin typeface="Calibri" pitchFamily="34" charset="0"/>
                <a:ea typeface="Calibri" pitchFamily="34" charset="-122"/>
                <a:cs typeface="Calibri" pitchFamily="34" charset="-120"/>
              </a:rPr>
              <a:t>visual</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Products: all 5 packs, each linking to The Collection</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Visuals of where Wonder is sold: photo strip or short video, linking to Around the World</a:t>
            </a:r>
            <a:endParaRPr lang="en-US" sz="2000" dirty="0"/>
          </a:p>
        </p:txBody>
      </p:sp>
      <p:sp>
        <p:nvSpPr>
          <p:cNvPr id="4" name="Text 2"/>
          <p:cNvSpPr txBox="1"/>
          <p:nvPr/>
        </p:nvSpPr>
        <p:spPr>
          <a:xfrm>
            <a:off x="548640" y="5120640"/>
            <a:ext cx="11064240" cy="548640"/>
          </a:xfrm>
          <a:prstGeom prst="rect">
            <a:avLst/>
          </a:prstGeom>
          <a:noFill/>
          <a:ln/>
        </p:spPr>
        <p:txBody>
          <a:bodyPr wrap="square" lIns="0" tIns="0" rIns="0" bIns="0" rtlCol="0" anchor="t"/>
          <a:lstStyle/>
          <a:p>
            <a:pPr marL="0" indent="0">
              <a:buNone/>
            </a:pPr>
            <a:r>
              <a:rPr lang="en-US" sz="2000" b="1" dirty="0">
                <a:solidFill>
                  <a:schemeClr val="accent2"/>
                </a:solidFill>
                <a:latin typeface="Calibri" pitchFamily="34" charset="0"/>
                <a:ea typeface="Calibri" pitchFamily="34" charset="-122"/>
                <a:cs typeface="Calibri" pitchFamily="34" charset="-120"/>
              </a:rPr>
              <a:t>Hero line suggestion:  "Scent. Lather. Wonder.“</a:t>
            </a:r>
          </a:p>
          <a:p>
            <a:pPr marL="0" indent="0">
              <a:buNone/>
            </a:pPr>
            <a:r>
              <a:rPr lang="en-US" sz="2000" b="1" dirty="0">
                <a:solidFill>
                  <a:schemeClr val="accent2"/>
                </a:solidFill>
                <a:latin typeface="Calibri" pitchFamily="34" charset="0"/>
                <a:ea typeface="Calibri" pitchFamily="34" charset="-122"/>
                <a:cs typeface="Calibri" pitchFamily="34" charset="-120"/>
              </a:rPr>
              <a:t>Add multiple tag lines throughout</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059A8-FFA2-DF06-6D37-6CCDAEAF5FC1}"/>
              </a:ext>
            </a:extLst>
          </p:cNvPr>
          <p:cNvPicPr>
            <a:picLocks noChangeAspect="1"/>
          </p:cNvPicPr>
          <p:nvPr/>
        </p:nvPicPr>
        <p:blipFill>
          <a:blip r:embed="rId2"/>
          <a:stretch>
            <a:fillRect/>
          </a:stretch>
        </p:blipFill>
        <p:spPr>
          <a:xfrm>
            <a:off x="1132115" y="289643"/>
            <a:ext cx="8077199" cy="4766771"/>
          </a:xfrm>
          <a:prstGeom prst="rect">
            <a:avLst/>
          </a:prstGeom>
        </p:spPr>
      </p:pic>
      <p:pic>
        <p:nvPicPr>
          <p:cNvPr id="5" name="Picture 4">
            <a:extLst>
              <a:ext uri="{FF2B5EF4-FFF2-40B4-BE49-F238E27FC236}">
                <a16:creationId xmlns:a16="http://schemas.microsoft.com/office/drawing/2014/main" id="{EDED623A-4046-AE78-23F8-08CE9F86AC81}"/>
              </a:ext>
            </a:extLst>
          </p:cNvPr>
          <p:cNvPicPr>
            <a:picLocks noChangeAspect="1"/>
          </p:cNvPicPr>
          <p:nvPr/>
        </p:nvPicPr>
        <p:blipFill>
          <a:blip r:embed="rId3"/>
          <a:stretch>
            <a:fillRect/>
          </a:stretch>
        </p:blipFill>
        <p:spPr>
          <a:xfrm>
            <a:off x="1477735" y="4772025"/>
            <a:ext cx="4510439" cy="1944461"/>
          </a:xfrm>
          <a:prstGeom prst="rect">
            <a:avLst/>
          </a:prstGeom>
        </p:spPr>
      </p:pic>
      <p:sp>
        <p:nvSpPr>
          <p:cNvPr id="6" name="TextBox 5">
            <a:extLst>
              <a:ext uri="{FF2B5EF4-FFF2-40B4-BE49-F238E27FC236}">
                <a16:creationId xmlns:a16="http://schemas.microsoft.com/office/drawing/2014/main" id="{A3E391E1-9E6A-0C29-6335-8871072245A8}"/>
              </a:ext>
            </a:extLst>
          </p:cNvPr>
          <p:cNvSpPr txBox="1"/>
          <p:nvPr/>
        </p:nvSpPr>
        <p:spPr>
          <a:xfrm>
            <a:off x="7320643" y="1910443"/>
            <a:ext cx="3390900" cy="1200329"/>
          </a:xfrm>
          <a:prstGeom prst="rect">
            <a:avLst/>
          </a:prstGeom>
          <a:solidFill>
            <a:srgbClr val="FFFF00"/>
          </a:solidFill>
        </p:spPr>
        <p:txBody>
          <a:bodyPr wrap="square" rtlCol="0">
            <a:spAutoFit/>
          </a:bodyPr>
          <a:lstStyle/>
          <a:p>
            <a:r>
              <a:rPr lang="en-GB" dirty="0"/>
              <a:t>KEEP THE OPENING AS IS</a:t>
            </a:r>
          </a:p>
          <a:p>
            <a:endParaRPr lang="en-GB" dirty="0"/>
          </a:p>
          <a:p>
            <a:r>
              <a:rPr lang="en-GB" dirty="0"/>
              <a:t>THE TOP PANEL NEEDS TO B CHNAGED </a:t>
            </a:r>
          </a:p>
        </p:txBody>
      </p:sp>
    </p:spTree>
    <p:extLst>
      <p:ext uri="{BB962C8B-B14F-4D97-AF65-F5344CB8AC3E}">
        <p14:creationId xmlns:p14="http://schemas.microsoft.com/office/powerpoint/2010/main" val="3490469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Home: Welcome note (1 of 2)</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0" indent="0">
              <a:spcAft>
                <a:spcPts val="1000"/>
              </a:spcAft>
              <a:buNone/>
            </a:pPr>
            <a:r>
              <a:rPr lang="en-US" sz="1700">
                <a:solidFill>
                  <a:schemeClr val="tx1"/>
                </a:solidFill>
                <a:latin typeface="Calibri" pitchFamily="34" charset="0"/>
                <a:ea typeface="Calibri" pitchFamily="34" charset="-122"/>
                <a:cs typeface="Calibri" pitchFamily="34" charset="-120"/>
              </a:rPr>
              <a:t>Wonder </a:t>
            </a:r>
            <a:r>
              <a:rPr lang="en-US" sz="1700" dirty="0">
                <a:solidFill>
                  <a:schemeClr val="tx1"/>
                </a:solidFill>
                <a:latin typeface="Calibri" pitchFamily="34" charset="0"/>
                <a:ea typeface="Calibri" pitchFamily="34" charset="-122"/>
                <a:cs typeface="Calibri" pitchFamily="34" charset="-120"/>
              </a:rPr>
              <a:t>is a Pakistani artisan soap brand, made with meticulous attention to detail and with both skin comfort and sensory pleasure in mind.</a:t>
            </a:r>
            <a:endParaRPr lang="en-US" sz="1700" dirty="0"/>
          </a:p>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Our soaps are made with carefully selected ingredients, including fragrant flowers and botanicals, and packed with care by our own people, for you.</a:t>
            </a:r>
            <a:endParaRPr lang="en-US" sz="1700" dirty="0"/>
          </a:p>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Wonder is about innovation, experimentation and design in everyday beauty. We want every bar to be a small multisensory experience: rich lather, a lovely scent and a feel that stays with you.</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Home: Welcome note (2 of 2)</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Elegance and design go into every pack, so your soap feels like a little luxury and not just a bathroom basic.</a:t>
            </a:r>
            <a:endParaRPr lang="en-US" sz="1700" dirty="0"/>
          </a:p>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A better way to wrap luxury. Instead of traditional wrappers and plastic packaging, Wonder comes in eco-friendly box packaging. It helps reduce our carbon footprint and gives you a luxury experience at an affordable price, because every customer matters to us.</a:t>
            </a:r>
            <a:endParaRPr lang="en-US" sz="1700" dirty="0"/>
          </a:p>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We love quality and beauty, and we want you to find both in every bar.</a:t>
            </a:r>
            <a:endParaRPr lang="en-US" sz="1700" dirty="0"/>
          </a:p>
          <a:p>
            <a:pPr marL="0" indent="0">
              <a:spcAft>
                <a:spcPts val="1000"/>
              </a:spcAft>
              <a:buNone/>
            </a:pPr>
            <a:r>
              <a:rPr lang="en-US" sz="1700" dirty="0">
                <a:solidFill>
                  <a:schemeClr val="tx1"/>
                </a:solidFill>
                <a:latin typeface="Calibri" pitchFamily="34" charset="0"/>
                <a:ea typeface="Calibri" pitchFamily="34" charset="-122"/>
                <a:cs typeface="Calibri" pitchFamily="34" charset="-120"/>
              </a:rPr>
              <a:t>Every scent tells a story.</a:t>
            </a:r>
          </a:p>
          <a:p>
            <a:pPr marL="0" indent="0">
              <a:spcAft>
                <a:spcPts val="1000"/>
              </a:spcAft>
              <a:buNone/>
            </a:pPr>
            <a:endParaRPr lang="en-US" sz="1700" dirty="0">
              <a:latin typeface="Calibri" pitchFamily="34" charset="0"/>
              <a:ea typeface="Calibri" pitchFamily="34" charset="-122"/>
              <a:cs typeface="Calibri" pitchFamily="34" charset="-120"/>
            </a:endParaRPr>
          </a:p>
          <a:p>
            <a:pPr marL="0" indent="0">
              <a:spcAft>
                <a:spcPts val="1000"/>
              </a:spcAft>
              <a:buNone/>
            </a:pPr>
            <a:endParaRPr lang="en-US" sz="1700" dirty="0">
              <a:latin typeface="Calibri" pitchFamily="34" charset="0"/>
              <a:ea typeface="Calibri" pitchFamily="34" charset="-122"/>
              <a:cs typeface="Calibri" pitchFamily="34" charset="-120"/>
            </a:endParaRPr>
          </a:p>
          <a:p>
            <a:pPr marL="0" indent="0">
              <a:spcAft>
                <a:spcPts val="1000"/>
              </a:spcAft>
              <a:buNone/>
            </a:pPr>
            <a:r>
              <a:rPr lang="en-US" sz="1700" dirty="0">
                <a:latin typeface="Calibri" pitchFamily="34" charset="0"/>
                <a:ea typeface="Calibri" pitchFamily="34" charset="-122"/>
                <a:cs typeface="Calibri" pitchFamily="34" charset="-120"/>
              </a:rPr>
              <a:t>ADD VISUALS INBETWEEN BOTH WELCOME NOTES</a:t>
            </a:r>
          </a:p>
          <a:p>
            <a:pPr marL="0" indent="0">
              <a:spcAft>
                <a:spcPts val="1000"/>
              </a:spcAft>
              <a:buNone/>
            </a:pPr>
            <a:endParaRPr lang="en-US" sz="1700" dirty="0">
              <a:latin typeface="Calibri" pitchFamily="34" charset="0"/>
              <a:ea typeface="Calibri" pitchFamily="34" charset="-122"/>
              <a:cs typeface="Calibri" pitchFamily="34" charset="-120"/>
            </a:endParaRPr>
          </a:p>
          <a:p>
            <a:pPr marL="0" indent="0">
              <a:spcAft>
                <a:spcPts val="1000"/>
              </a:spcAft>
              <a:buNone/>
            </a:pPr>
            <a:r>
              <a:rPr lang="en-US" sz="1700" dirty="0">
                <a:latin typeface="Calibri" pitchFamily="34" charset="0"/>
                <a:ea typeface="Calibri" pitchFamily="34" charset="-122"/>
                <a:cs typeface="Calibri" pitchFamily="34" charset="-120"/>
              </a:rPr>
              <a:t>U CAN BREAK IT DOWN</a:t>
            </a:r>
          </a:p>
          <a:p>
            <a:pPr marL="0" indent="0">
              <a:spcAft>
                <a:spcPts val="1000"/>
              </a:spcAft>
              <a:buNone/>
            </a:pPr>
            <a:r>
              <a:rPr lang="en-US" sz="1700" dirty="0">
                <a:latin typeface="Calibri" pitchFamily="34" charset="0"/>
                <a:ea typeface="Calibri" pitchFamily="34" charset="-122"/>
                <a:cs typeface="Calibri" pitchFamily="34" charset="-120"/>
              </a:rPr>
              <a:t>NO PARAGRAPHS</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94854" y="45720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Home: Mission </a:t>
            </a:r>
            <a:endParaRPr lang="en-US" sz="3000" dirty="0"/>
          </a:p>
        </p:txBody>
      </p:sp>
      <p:sp>
        <p:nvSpPr>
          <p:cNvPr id="3" name="cardMISSION"/>
          <p:cNvSpPr/>
          <p:nvPr/>
        </p:nvSpPr>
        <p:spPr>
          <a:xfrm>
            <a:off x="548640" y="1554480"/>
            <a:ext cx="5349240" cy="4206240"/>
          </a:xfrm>
          <a:prstGeom prst="rect">
            <a:avLst/>
          </a:prstGeom>
          <a:solidFill>
            <a:schemeClr val="bg2"/>
          </a:solidFill>
          <a:ln w="12700">
            <a:solidFill>
              <a:schemeClr val="accent3"/>
            </a:solidFill>
            <a:prstDash val="solid"/>
          </a:ln>
        </p:spPr>
        <p:txBody>
          <a:bodyPr/>
          <a:lstStyle/>
          <a:p>
            <a:endParaRPr lang="en-US"/>
          </a:p>
        </p:txBody>
      </p:sp>
      <p:sp>
        <p:nvSpPr>
          <p:cNvPr id="4" name="Text 2"/>
          <p:cNvSpPr txBox="1"/>
          <p:nvPr/>
        </p:nvSpPr>
        <p:spPr>
          <a:xfrm>
            <a:off x="914400" y="1828800"/>
            <a:ext cx="4572000" cy="320040"/>
          </a:xfrm>
          <a:prstGeom prst="rect">
            <a:avLst/>
          </a:prstGeom>
          <a:noFill/>
          <a:ln/>
        </p:spPr>
        <p:txBody>
          <a:bodyPr wrap="square" lIns="0" tIns="0" rIns="0" bIns="0" rtlCol="0" anchor="ctr"/>
          <a:lstStyle/>
          <a:p>
            <a:pPr marL="0" indent="0">
              <a:buNone/>
            </a:pPr>
            <a:r>
              <a:rPr lang="en-US" sz="1200" b="1" kern="0" spc="200" dirty="0">
                <a:solidFill>
                  <a:schemeClr val="accent2"/>
                </a:solidFill>
              </a:rPr>
              <a:t>MISSION</a:t>
            </a:r>
            <a:endParaRPr lang="en-US" sz="1200" dirty="0"/>
          </a:p>
        </p:txBody>
      </p:sp>
      <p:sp>
        <p:nvSpPr>
          <p:cNvPr id="5" name="Text 3"/>
          <p:cNvSpPr txBox="1"/>
          <p:nvPr/>
        </p:nvSpPr>
        <p:spPr>
          <a:xfrm>
            <a:off x="914400" y="2286000"/>
            <a:ext cx="4617720" cy="329184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To make everyday luxury accessible to all, with a gentle, moisturising, beautifully scented beauty bar made with care for every skin type, at a price everyone can afford.</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854A3-16D1-2BC2-8761-0BBB39E0DB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294044-EA4F-94A8-9725-7405D87CD2F8}"/>
              </a:ext>
            </a:extLst>
          </p:cNvPr>
          <p:cNvSpPr txBox="1"/>
          <p:nvPr/>
        </p:nvSpPr>
        <p:spPr>
          <a:xfrm>
            <a:off x="548640" y="362494"/>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Home: Vision</a:t>
            </a:r>
            <a:endParaRPr lang="en-US" sz="3000" dirty="0"/>
          </a:p>
        </p:txBody>
      </p:sp>
      <p:sp>
        <p:nvSpPr>
          <p:cNvPr id="7" name="Text 5">
            <a:extLst>
              <a:ext uri="{FF2B5EF4-FFF2-40B4-BE49-F238E27FC236}">
                <a16:creationId xmlns:a16="http://schemas.microsoft.com/office/drawing/2014/main" id="{FB017ACA-AC48-416C-87C8-6BBFAFC4E695}"/>
              </a:ext>
            </a:extLst>
          </p:cNvPr>
          <p:cNvSpPr txBox="1"/>
          <p:nvPr/>
        </p:nvSpPr>
        <p:spPr>
          <a:xfrm>
            <a:off x="751114" y="1317171"/>
            <a:ext cx="4572000" cy="320040"/>
          </a:xfrm>
          <a:prstGeom prst="rect">
            <a:avLst/>
          </a:prstGeom>
          <a:noFill/>
          <a:ln/>
        </p:spPr>
        <p:txBody>
          <a:bodyPr wrap="square" lIns="0" tIns="0" rIns="0" bIns="0" rtlCol="0" anchor="ctr"/>
          <a:lstStyle/>
          <a:p>
            <a:pPr marL="0" indent="0">
              <a:buNone/>
            </a:pPr>
            <a:r>
              <a:rPr lang="en-US" sz="1200" b="1" kern="0" spc="200" dirty="0">
                <a:solidFill>
                  <a:schemeClr val="accent2"/>
                </a:solidFill>
              </a:rPr>
              <a:t>VISION</a:t>
            </a:r>
            <a:endParaRPr lang="en-US" sz="1200" dirty="0"/>
          </a:p>
        </p:txBody>
      </p:sp>
      <p:sp>
        <p:nvSpPr>
          <p:cNvPr id="8" name="Text 6">
            <a:extLst>
              <a:ext uri="{FF2B5EF4-FFF2-40B4-BE49-F238E27FC236}">
                <a16:creationId xmlns:a16="http://schemas.microsoft.com/office/drawing/2014/main" id="{8CA7DC72-78F4-9F3F-D0C8-DAC668B8A54E}"/>
              </a:ext>
            </a:extLst>
          </p:cNvPr>
          <p:cNvSpPr txBox="1"/>
          <p:nvPr/>
        </p:nvSpPr>
        <p:spPr>
          <a:xfrm>
            <a:off x="751114" y="1681843"/>
            <a:ext cx="4617720" cy="329184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Our vision is to offer products you can trust. In a world full of big claims and marketing gimmicks, Wonder promises to stay honest: quality ingredients, careful craftsmanship and a product we are proud to stand behind. From us to you.</a:t>
            </a:r>
            <a:endParaRPr lang="en-US" sz="1800" dirty="0"/>
          </a:p>
        </p:txBody>
      </p:sp>
      <p:sp>
        <p:nvSpPr>
          <p:cNvPr id="25" name="Slide Number Placeholder 0">
            <a:extLst>
              <a:ext uri="{FF2B5EF4-FFF2-40B4-BE49-F238E27FC236}">
                <a16:creationId xmlns:a16="http://schemas.microsoft.com/office/drawing/2014/main" id="{60D5DAAE-DEB0-A73B-1ED5-FD0003CC8066}"/>
              </a:ext>
            </a:extLst>
          </p:cNvPr>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8</a:t>
            </a:fld>
            <a:endParaRPr lang="en-US"/>
          </a:p>
        </p:txBody>
      </p:sp>
    </p:spTree>
    <p:extLst>
      <p:ext uri="{BB962C8B-B14F-4D97-AF65-F5344CB8AC3E}">
        <p14:creationId xmlns:p14="http://schemas.microsoft.com/office/powerpoint/2010/main" val="16829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F94005-5EA4-D508-EC99-7B2ACCCB7C36}"/>
              </a:ext>
            </a:extLst>
          </p:cNvPr>
          <p:cNvPicPr>
            <a:picLocks noChangeAspect="1"/>
          </p:cNvPicPr>
          <p:nvPr/>
        </p:nvPicPr>
        <p:blipFill>
          <a:blip r:embed="rId2"/>
          <a:stretch>
            <a:fillRect/>
          </a:stretch>
        </p:blipFill>
        <p:spPr>
          <a:xfrm>
            <a:off x="2179864" y="1962349"/>
            <a:ext cx="6983186" cy="3575695"/>
          </a:xfrm>
          <a:prstGeom prst="rect">
            <a:avLst/>
          </a:prstGeom>
        </p:spPr>
      </p:pic>
      <p:sp>
        <p:nvSpPr>
          <p:cNvPr id="4" name="TextBox 3">
            <a:extLst>
              <a:ext uri="{FF2B5EF4-FFF2-40B4-BE49-F238E27FC236}">
                <a16:creationId xmlns:a16="http://schemas.microsoft.com/office/drawing/2014/main" id="{5349ED8D-460D-F06C-CB7B-80CFD5658EF8}"/>
              </a:ext>
            </a:extLst>
          </p:cNvPr>
          <p:cNvSpPr txBox="1"/>
          <p:nvPr/>
        </p:nvSpPr>
        <p:spPr>
          <a:xfrm>
            <a:off x="2471058" y="919843"/>
            <a:ext cx="7505700" cy="369332"/>
          </a:xfrm>
          <a:prstGeom prst="rect">
            <a:avLst/>
          </a:prstGeom>
          <a:solidFill>
            <a:srgbClr val="92D050"/>
          </a:solidFill>
        </p:spPr>
        <p:txBody>
          <a:bodyPr wrap="square" rtlCol="0">
            <a:spAutoFit/>
          </a:bodyPr>
          <a:lstStyle/>
          <a:p>
            <a:r>
              <a:rPr lang="en-GB" dirty="0"/>
              <a:t>CUSTOMER REVIEWS AT THE END</a:t>
            </a:r>
          </a:p>
        </p:txBody>
      </p:sp>
    </p:spTree>
    <p:extLst>
      <p:ext uri="{BB962C8B-B14F-4D97-AF65-F5344CB8AC3E}">
        <p14:creationId xmlns:p14="http://schemas.microsoft.com/office/powerpoint/2010/main" val="425024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Our Story: page structure</a:t>
            </a:r>
            <a:endParaRPr lang="en-US" sz="3000" dirty="0"/>
          </a:p>
        </p:txBody>
      </p:sp>
      <p:sp>
        <p:nvSpPr>
          <p:cNvPr id="3" name="Text 1"/>
          <p:cNvSpPr txBox="1"/>
          <p:nvPr/>
        </p:nvSpPr>
        <p:spPr>
          <a:xfrm>
            <a:off x="945969" y="172974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Who we are</a:t>
            </a:r>
          </a:p>
          <a:p>
            <a:pPr marL="342900" indent="-342900">
              <a:spcAft>
                <a:spcPts val="800"/>
              </a:spcAft>
              <a:buSzPct val="100000"/>
              <a:buChar char="•"/>
            </a:pPr>
            <a:r>
              <a:rPr lang="en-US" sz="2000" dirty="0">
                <a:latin typeface="Calibri" pitchFamily="34" charset="0"/>
                <a:ea typeface="Calibri" pitchFamily="34" charset="-122"/>
                <a:cs typeface="Calibri" pitchFamily="34" charset="-120"/>
              </a:rPr>
              <a:t>OUR VALUES</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Why Wonder? </a:t>
            </a:r>
            <a:endParaRPr lang="en-US" sz="2000" dirty="0">
              <a:latin typeface="Calibri" pitchFamily="34" charset="0"/>
              <a:ea typeface="Calibri" pitchFamily="34" charset="-122"/>
              <a:cs typeface="Calibri" pitchFamily="34" charset="-120"/>
            </a:endParaRPr>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Wonder Room (this is where we add Where the idea of Wonder came from) </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A note from the Founder</a:t>
            </a:r>
            <a:endParaRPr lang="en-US" sz="2000" dirty="0"/>
          </a:p>
          <a:p>
            <a:pPr marL="342900" indent="-342900">
              <a:spcAft>
                <a:spcPts val="800"/>
              </a:spcAft>
              <a:buSzPct val="100000"/>
              <a:buChar char="•"/>
            </a:pPr>
            <a:r>
              <a:rPr lang="en-US" sz="2000" dirty="0">
                <a:solidFill>
                  <a:schemeClr val="tx1"/>
                </a:solidFill>
                <a:latin typeface="Calibri" pitchFamily="34" charset="0"/>
                <a:ea typeface="Calibri" pitchFamily="34" charset="-122"/>
                <a:cs typeface="Calibri" pitchFamily="34" charset="-120"/>
              </a:rPr>
              <a:t>CEO's promise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Our Story: Who we are, and Why Wonder?</a:t>
            </a:r>
            <a:endParaRPr lang="en-US" sz="3000" dirty="0"/>
          </a:p>
        </p:txBody>
      </p:sp>
      <p:sp>
        <p:nvSpPr>
          <p:cNvPr id="3" name="Text 1"/>
          <p:cNvSpPr txBox="1"/>
          <p:nvPr/>
        </p:nvSpPr>
        <p:spPr>
          <a:xfrm>
            <a:off x="548640" y="1463040"/>
            <a:ext cx="5486400" cy="320040"/>
          </a:xfrm>
          <a:prstGeom prst="rect">
            <a:avLst/>
          </a:prstGeom>
          <a:noFill/>
          <a:ln/>
        </p:spPr>
        <p:txBody>
          <a:bodyPr wrap="square" lIns="0" tIns="0" rIns="0" bIns="0" rtlCol="0" anchor="ctr"/>
          <a:lstStyle/>
          <a:p>
            <a:pPr marL="0" indent="0">
              <a:buNone/>
            </a:pPr>
            <a:r>
              <a:rPr lang="en-US" sz="1200" b="1" kern="0" spc="200" dirty="0">
                <a:solidFill>
                  <a:schemeClr val="accent2"/>
                </a:solidFill>
              </a:rPr>
              <a:t>WHO WE ARE</a:t>
            </a:r>
            <a:endParaRPr lang="en-US" sz="1200" dirty="0"/>
          </a:p>
        </p:txBody>
      </p:sp>
      <p:sp>
        <p:nvSpPr>
          <p:cNvPr id="4" name="Text 2"/>
          <p:cNvSpPr txBox="1"/>
          <p:nvPr/>
        </p:nvSpPr>
        <p:spPr>
          <a:xfrm>
            <a:off x="548640" y="1828800"/>
            <a:ext cx="11064240" cy="1463040"/>
          </a:xfrm>
          <a:prstGeom prst="rect">
            <a:avLst/>
          </a:prstGeom>
          <a:noFill/>
          <a:ln/>
        </p:spPr>
        <p:txBody>
          <a:bodyPr wrap="square" lIns="0" tIns="0" rIns="0" bIns="0" rtlCol="0" anchor="t"/>
          <a:lstStyle/>
          <a:p>
            <a:r>
              <a:rPr lang="en-GB" sz="1600" dirty="0"/>
              <a:t>At Royal Basket, our philosophy is to create premium quality soap that leaves your skin hydrated and happy, at a price that’s easy on the pocket.</a:t>
            </a:r>
          </a:p>
          <a:p>
            <a:endParaRPr lang="en-GB" sz="1600" dirty="0"/>
          </a:p>
          <a:p>
            <a:r>
              <a:rPr lang="en-GB" sz="1600" dirty="0"/>
              <a:t>We believe a daily ritual should feel special, smell wonderful, and be kind to your skin.</a:t>
            </a:r>
          </a:p>
          <a:p>
            <a:pPr marL="0" indent="0">
              <a:buNone/>
            </a:pPr>
            <a:endParaRPr lang="en-US" sz="1700" dirty="0"/>
          </a:p>
        </p:txBody>
      </p:sp>
      <p:sp>
        <p:nvSpPr>
          <p:cNvPr id="5" name="Text 3"/>
          <p:cNvSpPr txBox="1"/>
          <p:nvPr/>
        </p:nvSpPr>
        <p:spPr>
          <a:xfrm>
            <a:off x="548640" y="3474720"/>
            <a:ext cx="7315200" cy="320040"/>
          </a:xfrm>
          <a:prstGeom prst="rect">
            <a:avLst/>
          </a:prstGeom>
          <a:noFill/>
          <a:ln/>
        </p:spPr>
        <p:txBody>
          <a:bodyPr wrap="square" lIns="0" tIns="0" rIns="0" bIns="0" rtlCol="0" anchor="ctr"/>
          <a:lstStyle/>
          <a:p>
            <a:pPr marL="0" indent="0">
              <a:buNone/>
            </a:pPr>
            <a:r>
              <a:rPr lang="en-US" sz="1200" b="1" kern="0" spc="200" dirty="0">
                <a:solidFill>
                  <a:schemeClr val="accent2"/>
                </a:solidFill>
              </a:rPr>
              <a:t>WHY WONDER?  (three columns or icons)</a:t>
            </a:r>
            <a:endParaRPr lang="en-US" sz="1200" dirty="0"/>
          </a:p>
        </p:txBody>
      </p:sp>
      <p:sp>
        <p:nvSpPr>
          <p:cNvPr id="6" name="whyScent"/>
          <p:cNvSpPr/>
          <p:nvPr/>
        </p:nvSpPr>
        <p:spPr>
          <a:xfrm>
            <a:off x="548640" y="3886200"/>
            <a:ext cx="3566160" cy="2103120"/>
          </a:xfrm>
          <a:prstGeom prst="rect">
            <a:avLst/>
          </a:prstGeom>
          <a:solidFill>
            <a:schemeClr val="bg2"/>
          </a:solidFill>
          <a:ln w="12700">
            <a:solidFill>
              <a:schemeClr val="accent3"/>
            </a:solidFill>
            <a:prstDash val="solid"/>
          </a:ln>
        </p:spPr>
        <p:txBody>
          <a:bodyPr/>
          <a:lstStyle/>
          <a:p>
            <a:endParaRPr lang="en-US"/>
          </a:p>
        </p:txBody>
      </p:sp>
      <p:sp>
        <p:nvSpPr>
          <p:cNvPr id="7" name="Text 5"/>
          <p:cNvSpPr txBox="1"/>
          <p:nvPr/>
        </p:nvSpPr>
        <p:spPr>
          <a:xfrm>
            <a:off x="822960" y="4069080"/>
            <a:ext cx="3017520" cy="457200"/>
          </a:xfrm>
          <a:prstGeom prst="rect">
            <a:avLst/>
          </a:prstGeom>
          <a:noFill/>
          <a:ln/>
        </p:spPr>
        <p:txBody>
          <a:bodyPr wrap="square" lIns="0" tIns="0" rIns="0" bIns="0" rtlCol="0" anchor="ctr"/>
          <a:lstStyle/>
          <a:p>
            <a:pPr marL="0" indent="0">
              <a:buNone/>
            </a:pPr>
            <a:r>
              <a:rPr lang="en-US" sz="2200" b="1" dirty="0">
                <a:solidFill>
                  <a:schemeClr val="accent2"/>
                </a:solidFill>
              </a:rPr>
              <a:t>One bar does it all</a:t>
            </a:r>
            <a:endParaRPr lang="en-US" sz="2200" dirty="0"/>
          </a:p>
        </p:txBody>
      </p:sp>
      <p:sp>
        <p:nvSpPr>
          <p:cNvPr id="8" name="Text 6"/>
          <p:cNvSpPr txBox="1"/>
          <p:nvPr/>
        </p:nvSpPr>
        <p:spPr>
          <a:xfrm>
            <a:off x="822960" y="4617720"/>
            <a:ext cx="3017520" cy="1188720"/>
          </a:xfrm>
          <a:prstGeom prst="rect">
            <a:avLst/>
          </a:prstGeom>
          <a:noFill/>
          <a:ln/>
        </p:spPr>
        <p:txBody>
          <a:bodyPr wrap="square" lIns="0" tIns="0" rIns="0" bIns="0" rtlCol="0" anchor="t"/>
          <a:lstStyle/>
          <a:p>
            <a:r>
              <a:rPr lang="en-GB" sz="1600" dirty="0"/>
              <a:t>Intentionally crafted for everyday care, with thoughtful ingredients and scents to help you glow, hydrate and protect.</a:t>
            </a:r>
            <a:endParaRPr lang="en-US" sz="1600" dirty="0"/>
          </a:p>
        </p:txBody>
      </p:sp>
      <p:sp>
        <p:nvSpPr>
          <p:cNvPr id="9" name="whyPrice"/>
          <p:cNvSpPr/>
          <p:nvPr/>
        </p:nvSpPr>
        <p:spPr>
          <a:xfrm>
            <a:off x="4297680" y="3886200"/>
            <a:ext cx="3566160" cy="2103120"/>
          </a:xfrm>
          <a:prstGeom prst="rect">
            <a:avLst/>
          </a:prstGeom>
          <a:solidFill>
            <a:schemeClr val="bg2"/>
          </a:solidFill>
          <a:ln w="12700">
            <a:solidFill>
              <a:schemeClr val="accent3"/>
            </a:solidFill>
            <a:prstDash val="solid"/>
          </a:ln>
        </p:spPr>
        <p:txBody>
          <a:bodyPr/>
          <a:lstStyle/>
          <a:p>
            <a:endParaRPr lang="en-US"/>
          </a:p>
        </p:txBody>
      </p:sp>
      <p:sp>
        <p:nvSpPr>
          <p:cNvPr id="10" name="Text 8"/>
          <p:cNvSpPr txBox="1"/>
          <p:nvPr/>
        </p:nvSpPr>
        <p:spPr>
          <a:xfrm>
            <a:off x="4572000" y="4069080"/>
            <a:ext cx="3017520" cy="457200"/>
          </a:xfrm>
          <a:prstGeom prst="rect">
            <a:avLst/>
          </a:prstGeom>
          <a:noFill/>
          <a:ln/>
        </p:spPr>
        <p:txBody>
          <a:bodyPr wrap="square" lIns="0" tIns="0" rIns="0" bIns="0" rtlCol="0" anchor="ctr"/>
          <a:lstStyle/>
          <a:p>
            <a:pPr marL="0" indent="0">
              <a:buNone/>
            </a:pPr>
            <a:r>
              <a:rPr lang="en-US" sz="2200" b="1" dirty="0">
                <a:solidFill>
                  <a:schemeClr val="accent2"/>
                </a:solidFill>
              </a:rPr>
              <a:t>Affordability</a:t>
            </a:r>
            <a:endParaRPr lang="en-US" sz="2200" dirty="0"/>
          </a:p>
        </p:txBody>
      </p:sp>
      <p:sp>
        <p:nvSpPr>
          <p:cNvPr id="11" name="Text 9"/>
          <p:cNvSpPr txBox="1"/>
          <p:nvPr/>
        </p:nvSpPr>
        <p:spPr>
          <a:xfrm>
            <a:off x="4572000" y="4617720"/>
            <a:ext cx="3017520" cy="1188720"/>
          </a:xfrm>
          <a:prstGeom prst="rect">
            <a:avLst/>
          </a:prstGeom>
          <a:noFill/>
          <a:ln/>
        </p:spPr>
        <p:txBody>
          <a:bodyPr wrap="square" lIns="0" tIns="0" rIns="0" bIns="0" rtlCol="0" anchor="t"/>
          <a:lstStyle/>
          <a:p>
            <a:r>
              <a:rPr lang="en-GB" sz="1600" dirty="0"/>
              <a:t>From the beginning, we wanted to make premium everyday care more affordable, without compromising on quality.</a:t>
            </a:r>
          </a:p>
          <a:p>
            <a:pPr marL="0" indent="0">
              <a:buNone/>
            </a:pPr>
            <a:endParaRPr lang="en-US" sz="1600" dirty="0"/>
          </a:p>
        </p:txBody>
      </p:sp>
      <p:sp>
        <p:nvSpPr>
          <p:cNvPr id="12" name="whyMoisture"/>
          <p:cNvSpPr/>
          <p:nvPr/>
        </p:nvSpPr>
        <p:spPr>
          <a:xfrm>
            <a:off x="8046720" y="3886200"/>
            <a:ext cx="3566160" cy="2103120"/>
          </a:xfrm>
          <a:prstGeom prst="rect">
            <a:avLst/>
          </a:prstGeom>
          <a:solidFill>
            <a:schemeClr val="bg2"/>
          </a:solidFill>
          <a:ln w="12700">
            <a:solidFill>
              <a:schemeClr val="accent3"/>
            </a:solidFill>
            <a:prstDash val="solid"/>
          </a:ln>
        </p:spPr>
        <p:txBody>
          <a:bodyPr/>
          <a:lstStyle/>
          <a:p>
            <a:endParaRPr lang="en-US"/>
          </a:p>
        </p:txBody>
      </p:sp>
      <p:sp>
        <p:nvSpPr>
          <p:cNvPr id="13" name="Text 11"/>
          <p:cNvSpPr txBox="1"/>
          <p:nvPr/>
        </p:nvSpPr>
        <p:spPr>
          <a:xfrm>
            <a:off x="8321040" y="4069080"/>
            <a:ext cx="3017520" cy="457200"/>
          </a:xfrm>
          <a:prstGeom prst="rect">
            <a:avLst/>
          </a:prstGeom>
          <a:noFill/>
          <a:ln/>
        </p:spPr>
        <p:txBody>
          <a:bodyPr wrap="square" lIns="0" tIns="0" rIns="0" bIns="0" rtlCol="0" anchor="ctr"/>
          <a:lstStyle/>
          <a:p>
            <a:pPr marL="0" indent="0">
              <a:buNone/>
            </a:pPr>
            <a:r>
              <a:rPr lang="en-US" sz="2200" b="1" dirty="0" err="1">
                <a:solidFill>
                  <a:schemeClr val="accent2"/>
                </a:solidFill>
              </a:rPr>
              <a:t>Nourshing</a:t>
            </a:r>
            <a:endParaRPr lang="en-US" sz="2200" dirty="0"/>
          </a:p>
        </p:txBody>
      </p:sp>
      <p:sp>
        <p:nvSpPr>
          <p:cNvPr id="14" name="Text 12"/>
          <p:cNvSpPr txBox="1"/>
          <p:nvPr/>
        </p:nvSpPr>
        <p:spPr>
          <a:xfrm>
            <a:off x="8321040" y="4617720"/>
            <a:ext cx="3017520" cy="1188720"/>
          </a:xfrm>
          <a:prstGeom prst="rect">
            <a:avLst/>
          </a:prstGeom>
          <a:noFill/>
          <a:ln/>
        </p:spPr>
        <p:txBody>
          <a:bodyPr wrap="square" lIns="0" tIns="0" rIns="0" bIns="0" rtlCol="0" anchor="t"/>
          <a:lstStyle/>
          <a:p>
            <a:r>
              <a:rPr lang="en-GB" sz="1600" dirty="0"/>
              <a:t>Gentle everyday cleansing that helps maintain your skin’s natural moisture, leaving it feeling soft and cared for.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36643-F71B-3504-9019-79E74E721B22}"/>
              </a:ext>
            </a:extLst>
          </p:cNvPr>
          <p:cNvSpPr txBox="1"/>
          <p:nvPr/>
        </p:nvSpPr>
        <p:spPr>
          <a:xfrm>
            <a:off x="3048000" y="3289347"/>
            <a:ext cx="6096000" cy="646331"/>
          </a:xfrm>
          <a:prstGeom prst="rect">
            <a:avLst/>
          </a:prstGeom>
          <a:noFill/>
        </p:spPr>
        <p:txBody>
          <a:bodyPr wrap="square">
            <a:spAutoFit/>
          </a:bodyPr>
          <a:lstStyle/>
          <a:p>
            <a:r>
              <a:rPr lang="en-GB" sz="1800" b="0" i="0" spc="24" dirty="0">
                <a:solidFill>
                  <a:schemeClr val="tx1"/>
                </a:solidFill>
                <a:effectLst/>
                <a:latin typeface="+mn-lt"/>
              </a:rPr>
              <a:t>OUR VALUES</a:t>
            </a:r>
          </a:p>
          <a:p>
            <a:r>
              <a:rPr lang="en-GB" sz="1800" b="0" i="0" spc="24" dirty="0">
                <a:solidFill>
                  <a:schemeClr val="tx1"/>
                </a:solidFill>
                <a:effectLst/>
                <a:latin typeface="+mn-lt"/>
              </a:rPr>
              <a:t>Simplicity. Affordability. Authenticity. Quality. Transparency.</a:t>
            </a:r>
            <a:endParaRPr lang="en-GB" dirty="0"/>
          </a:p>
        </p:txBody>
      </p:sp>
    </p:spTree>
    <p:extLst>
      <p:ext uri="{BB962C8B-B14F-4D97-AF65-F5344CB8AC3E}">
        <p14:creationId xmlns:p14="http://schemas.microsoft.com/office/powerpoint/2010/main" val="3409092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r>
              <a:rPr lang="en-GB" sz="3200" dirty="0"/>
              <a:t>Every journey has a story. This is ours.</a:t>
            </a:r>
            <a:endParaRPr lang="en-US" sz="3000" dirty="0"/>
          </a:p>
        </p:txBody>
      </p:sp>
      <p:sp>
        <p:nvSpPr>
          <p:cNvPr id="3" name="place0"/>
          <p:cNvSpPr/>
          <p:nvPr/>
        </p:nvSpPr>
        <p:spPr>
          <a:xfrm>
            <a:off x="548640" y="1371600"/>
            <a:ext cx="5486400" cy="1600200"/>
          </a:xfrm>
          <a:prstGeom prst="rect">
            <a:avLst/>
          </a:prstGeom>
          <a:solidFill>
            <a:schemeClr val="bg2"/>
          </a:solidFill>
          <a:ln w="12700">
            <a:solidFill>
              <a:schemeClr val="accent3"/>
            </a:solidFill>
            <a:prstDash val="solid"/>
          </a:ln>
        </p:spPr>
        <p:txBody>
          <a:bodyPr/>
          <a:lstStyle/>
          <a:p>
            <a:endParaRPr lang="en-US"/>
          </a:p>
        </p:txBody>
      </p:sp>
      <p:sp>
        <p:nvSpPr>
          <p:cNvPr id="4" name="Text 2"/>
          <p:cNvSpPr txBox="1"/>
          <p:nvPr/>
        </p:nvSpPr>
        <p:spPr>
          <a:xfrm>
            <a:off x="731520" y="1463040"/>
            <a:ext cx="5120640" cy="141732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Lemon · Amalfi, Italy</a:t>
            </a:r>
            <a:endParaRPr lang="en-US" sz="1600" dirty="0"/>
          </a:p>
          <a:p>
            <a:pPr marL="0" indent="0">
              <a:buNone/>
            </a:pPr>
            <a:r>
              <a:rPr lang="en-US" sz="1400" dirty="0">
                <a:solidFill>
                  <a:schemeClr val="tx1"/>
                </a:solidFill>
              </a:rPr>
              <a:t>Wonder was born in Amalfi, on a sunny afternoon, while I was eating a lemon sorbet. The fresh, bright citrus stopped me in my tracks. I thought: I want my soap to smell like this.</a:t>
            </a:r>
            <a:endParaRPr lang="en-US" sz="1600" dirty="0"/>
          </a:p>
        </p:txBody>
      </p:sp>
      <p:sp>
        <p:nvSpPr>
          <p:cNvPr id="5" name="place1"/>
          <p:cNvSpPr/>
          <p:nvPr/>
        </p:nvSpPr>
        <p:spPr>
          <a:xfrm>
            <a:off x="6217920" y="1371600"/>
            <a:ext cx="5394960" cy="1600200"/>
          </a:xfrm>
          <a:prstGeom prst="rect">
            <a:avLst/>
          </a:prstGeom>
          <a:solidFill>
            <a:schemeClr val="bg2"/>
          </a:solidFill>
          <a:ln w="12700">
            <a:solidFill>
              <a:schemeClr val="accent3"/>
            </a:solidFill>
            <a:prstDash val="solid"/>
          </a:ln>
        </p:spPr>
        <p:txBody>
          <a:bodyPr/>
          <a:lstStyle/>
          <a:p>
            <a:endParaRPr lang="en-US"/>
          </a:p>
        </p:txBody>
      </p:sp>
      <p:sp>
        <p:nvSpPr>
          <p:cNvPr id="6" name="Text 4"/>
          <p:cNvSpPr txBox="1"/>
          <p:nvPr/>
        </p:nvSpPr>
        <p:spPr>
          <a:xfrm>
            <a:off x="6400800" y="1512026"/>
            <a:ext cx="5029200" cy="141732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Lavender · Surrey, UK</a:t>
            </a:r>
            <a:endParaRPr lang="en-US" sz="1600" dirty="0"/>
          </a:p>
          <a:p>
            <a:pPr marL="0" indent="0">
              <a:buNone/>
            </a:pPr>
            <a:r>
              <a:rPr lang="en-US" sz="1400" dirty="0">
                <a:solidFill>
                  <a:schemeClr val="tx1"/>
                </a:solidFill>
              </a:rPr>
              <a:t>I spent years living in the UK, where I discovered rows of purple lavender stretching to the horizon. Mayfield Lavender in Surrey is one of the best-known lavender fields in the country. That calm, quiet feeling became our Lavender bar.</a:t>
            </a:r>
            <a:endParaRPr lang="en-US" sz="1600" dirty="0"/>
          </a:p>
        </p:txBody>
      </p:sp>
      <p:sp>
        <p:nvSpPr>
          <p:cNvPr id="7" name="place2"/>
          <p:cNvSpPr/>
          <p:nvPr/>
        </p:nvSpPr>
        <p:spPr>
          <a:xfrm>
            <a:off x="548640" y="3108960"/>
            <a:ext cx="5486400" cy="1371600"/>
          </a:xfrm>
          <a:prstGeom prst="rect">
            <a:avLst/>
          </a:prstGeom>
          <a:solidFill>
            <a:schemeClr val="bg2"/>
          </a:solidFill>
          <a:ln w="12700">
            <a:solidFill>
              <a:schemeClr val="accent3"/>
            </a:solidFill>
            <a:prstDash val="solid"/>
          </a:ln>
        </p:spPr>
        <p:txBody>
          <a:bodyPr/>
          <a:lstStyle/>
          <a:p>
            <a:endParaRPr lang="en-US"/>
          </a:p>
        </p:txBody>
      </p:sp>
      <p:sp>
        <p:nvSpPr>
          <p:cNvPr id="8" name="Text 6"/>
          <p:cNvSpPr txBox="1"/>
          <p:nvPr/>
        </p:nvSpPr>
        <p:spPr>
          <a:xfrm>
            <a:off x="731520" y="3200400"/>
            <a:ext cx="5120640" cy="118872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Rose · Paris, France</a:t>
            </a:r>
            <a:endParaRPr lang="en-US" sz="1600" dirty="0"/>
          </a:p>
          <a:p>
            <a:pPr marL="0" indent="0">
              <a:buNone/>
            </a:pPr>
            <a:r>
              <a:rPr lang="en-US" sz="1400" dirty="0">
                <a:solidFill>
                  <a:schemeClr val="tx1"/>
                </a:solidFill>
              </a:rPr>
              <a:t>Paris, the city of love, is where I met my wife. How could I not make a Rose? Soft, romantic and timeless.</a:t>
            </a:r>
            <a:endParaRPr lang="en-US" sz="1600" dirty="0"/>
          </a:p>
        </p:txBody>
      </p:sp>
      <p:sp>
        <p:nvSpPr>
          <p:cNvPr id="9" name="place3"/>
          <p:cNvSpPr/>
          <p:nvPr/>
        </p:nvSpPr>
        <p:spPr>
          <a:xfrm>
            <a:off x="6217920" y="3108960"/>
            <a:ext cx="5394960" cy="1371600"/>
          </a:xfrm>
          <a:prstGeom prst="rect">
            <a:avLst/>
          </a:prstGeom>
          <a:solidFill>
            <a:schemeClr val="bg2"/>
          </a:solidFill>
          <a:ln w="12700">
            <a:solidFill>
              <a:schemeClr val="accent3"/>
            </a:solidFill>
            <a:prstDash val="solid"/>
          </a:ln>
        </p:spPr>
        <p:txBody>
          <a:bodyPr/>
          <a:lstStyle/>
          <a:p>
            <a:endParaRPr lang="en-US"/>
          </a:p>
        </p:txBody>
      </p:sp>
      <p:sp>
        <p:nvSpPr>
          <p:cNvPr id="10" name="Text 8"/>
          <p:cNvSpPr txBox="1"/>
          <p:nvPr/>
        </p:nvSpPr>
        <p:spPr>
          <a:xfrm>
            <a:off x="6400800" y="3200400"/>
            <a:ext cx="5029200" cy="118872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Aloe Vera · Korea</a:t>
            </a:r>
            <a:endParaRPr lang="en-US" sz="1600" dirty="0"/>
          </a:p>
          <a:p>
            <a:pPr marL="0" indent="0">
              <a:buNone/>
            </a:pPr>
            <a:r>
              <a:rPr lang="en-US" sz="1400" dirty="0">
                <a:solidFill>
                  <a:schemeClr val="tx1"/>
                </a:solidFill>
              </a:rPr>
              <a:t>As a skincare enthusiast, aloe vera had to be part of the collection. Korean skincare introduced me to aloe vera as a staple for soothing, fresh and hydrated-feeling skin.</a:t>
            </a:r>
            <a:endParaRPr lang="en-US" sz="1600" dirty="0"/>
          </a:p>
        </p:txBody>
      </p:sp>
      <p:sp>
        <p:nvSpPr>
          <p:cNvPr id="11" name="place4"/>
          <p:cNvSpPr/>
          <p:nvPr/>
        </p:nvSpPr>
        <p:spPr>
          <a:xfrm>
            <a:off x="548640" y="4617720"/>
            <a:ext cx="11064240" cy="1325880"/>
          </a:xfrm>
          <a:prstGeom prst="rect">
            <a:avLst/>
          </a:prstGeom>
          <a:solidFill>
            <a:schemeClr val="bg2"/>
          </a:solidFill>
          <a:ln w="12700">
            <a:solidFill>
              <a:schemeClr val="accent3"/>
            </a:solidFill>
            <a:prstDash val="solid"/>
          </a:ln>
        </p:spPr>
        <p:txBody>
          <a:bodyPr/>
          <a:lstStyle/>
          <a:p>
            <a:endParaRPr lang="en-US"/>
          </a:p>
        </p:txBody>
      </p:sp>
      <p:sp>
        <p:nvSpPr>
          <p:cNvPr id="12" name="Text 10"/>
          <p:cNvSpPr txBox="1"/>
          <p:nvPr/>
        </p:nvSpPr>
        <p:spPr>
          <a:xfrm>
            <a:off x="731520" y="4709160"/>
            <a:ext cx="10698480" cy="1143000"/>
          </a:xfrm>
          <a:prstGeom prst="rect">
            <a:avLst/>
          </a:prstGeom>
          <a:noFill/>
          <a:ln/>
        </p:spPr>
        <p:txBody>
          <a:bodyPr wrap="square" lIns="0" tIns="0" rIns="0" bIns="0" rtlCol="0" anchor="t"/>
          <a:lstStyle/>
          <a:p>
            <a:pPr marL="0" indent="0">
              <a:spcAft>
                <a:spcPts val="400"/>
              </a:spcAft>
              <a:buNone/>
            </a:pPr>
            <a:r>
              <a:rPr lang="en-US" sz="1600" b="1" dirty="0">
                <a:solidFill>
                  <a:schemeClr val="accent2"/>
                </a:solidFill>
              </a:rPr>
              <a:t>Coconut · Bali, Indonesia</a:t>
            </a:r>
            <a:endParaRPr lang="en-US" sz="1600" dirty="0"/>
          </a:p>
          <a:p>
            <a:pPr marL="0" indent="0">
              <a:buNone/>
            </a:pPr>
            <a:r>
              <a:rPr lang="en-US" sz="1400" dirty="0">
                <a:solidFill>
                  <a:schemeClr val="tx1"/>
                </a:solidFill>
              </a:rPr>
              <a:t>Bali was our honeymoon. Warm sand, ocean air and coconut everywhere. I can't imagine travelling without coconut, so it came home with me, in a bar.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13</a:t>
            </a:fld>
            <a:endParaRPr lang="en-US"/>
          </a:p>
        </p:txBody>
      </p:sp>
      <p:sp>
        <p:nvSpPr>
          <p:cNvPr id="13" name="TextBox 12">
            <a:extLst>
              <a:ext uri="{FF2B5EF4-FFF2-40B4-BE49-F238E27FC236}">
                <a16:creationId xmlns:a16="http://schemas.microsoft.com/office/drawing/2014/main" id="{4A7025F2-8C05-5034-1C51-EADB2007C92C}"/>
              </a:ext>
            </a:extLst>
          </p:cNvPr>
          <p:cNvSpPr txBox="1"/>
          <p:nvPr/>
        </p:nvSpPr>
        <p:spPr>
          <a:xfrm>
            <a:off x="7620000" y="575854"/>
            <a:ext cx="3031671" cy="646331"/>
          </a:xfrm>
          <a:prstGeom prst="rect">
            <a:avLst/>
          </a:prstGeom>
          <a:solidFill>
            <a:srgbClr val="FFFF00"/>
          </a:solidFill>
        </p:spPr>
        <p:txBody>
          <a:bodyPr wrap="square" rtlCol="0">
            <a:spAutoFit/>
          </a:bodyPr>
          <a:lstStyle/>
          <a:p>
            <a:r>
              <a:rPr lang="en-GB" dirty="0"/>
              <a:t>The layout would not b like this this just the text for u </a:t>
            </a:r>
          </a:p>
        </p:txBody>
      </p:sp>
      <p:pic>
        <p:nvPicPr>
          <p:cNvPr id="15" name="Picture 14">
            <a:extLst>
              <a:ext uri="{FF2B5EF4-FFF2-40B4-BE49-F238E27FC236}">
                <a16:creationId xmlns:a16="http://schemas.microsoft.com/office/drawing/2014/main" id="{EDA5910A-84C6-157E-0BB6-1F257D74007B}"/>
              </a:ext>
            </a:extLst>
          </p:cNvPr>
          <p:cNvPicPr>
            <a:picLocks noChangeAspect="1"/>
          </p:cNvPicPr>
          <p:nvPr/>
        </p:nvPicPr>
        <p:blipFill>
          <a:blip r:embed="rId3"/>
          <a:stretch>
            <a:fillRect/>
          </a:stretch>
        </p:blipFill>
        <p:spPr>
          <a:xfrm>
            <a:off x="4455987" y="0"/>
            <a:ext cx="3367112" cy="6572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5E97AA-D115-98E0-8A67-6D3107CE34AB}"/>
              </a:ext>
            </a:extLst>
          </p:cNvPr>
          <p:cNvPicPr>
            <a:picLocks noChangeAspect="1"/>
          </p:cNvPicPr>
          <p:nvPr/>
        </p:nvPicPr>
        <p:blipFill>
          <a:blip r:embed="rId2"/>
          <a:stretch>
            <a:fillRect/>
          </a:stretch>
        </p:blipFill>
        <p:spPr>
          <a:xfrm>
            <a:off x="685760" y="754836"/>
            <a:ext cx="10820479" cy="5348327"/>
          </a:xfrm>
          <a:prstGeom prst="rect">
            <a:avLst/>
          </a:prstGeom>
        </p:spPr>
      </p:pic>
      <p:sp>
        <p:nvSpPr>
          <p:cNvPr id="4" name="TextBox 3">
            <a:extLst>
              <a:ext uri="{FF2B5EF4-FFF2-40B4-BE49-F238E27FC236}">
                <a16:creationId xmlns:a16="http://schemas.microsoft.com/office/drawing/2014/main" id="{EAE04E08-AA2B-B9F0-9FFF-444194AD7787}"/>
              </a:ext>
            </a:extLst>
          </p:cNvPr>
          <p:cNvSpPr txBox="1"/>
          <p:nvPr/>
        </p:nvSpPr>
        <p:spPr>
          <a:xfrm>
            <a:off x="6787243" y="114301"/>
            <a:ext cx="5197928" cy="954107"/>
          </a:xfrm>
          <a:prstGeom prst="rect">
            <a:avLst/>
          </a:prstGeom>
          <a:solidFill>
            <a:srgbClr val="92D050"/>
          </a:solidFill>
        </p:spPr>
        <p:txBody>
          <a:bodyPr wrap="square" rtlCol="0">
            <a:spAutoFit/>
          </a:bodyPr>
          <a:lstStyle/>
          <a:p>
            <a:r>
              <a:rPr lang="en-GB" sz="2800" b="1" dirty="0"/>
              <a:t>VISUAL REFRENCE OF NOTE FROM FOUNDER</a:t>
            </a:r>
          </a:p>
        </p:txBody>
      </p:sp>
    </p:spTree>
    <p:extLst>
      <p:ext uri="{BB962C8B-B14F-4D97-AF65-F5344CB8AC3E}">
        <p14:creationId xmlns:p14="http://schemas.microsoft.com/office/powerpoint/2010/main" val="3483527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A note from </a:t>
            </a:r>
            <a:r>
              <a:rPr lang="en-US" sz="3000" b="1" dirty="0">
                <a:latin typeface="Georgia" pitchFamily="34" charset="0"/>
                <a:ea typeface="Georgia" pitchFamily="34" charset="-122"/>
                <a:cs typeface="Georgia" pitchFamily="34" charset="-120"/>
              </a:rPr>
              <a:t>the founder</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r>
              <a:rPr lang="en-GB" dirty="0"/>
              <a:t>I’ve always been a one-bar person.</a:t>
            </a:r>
          </a:p>
          <a:p>
            <a:r>
              <a:rPr lang="en-GB" dirty="0"/>
              <a:t>Soap for my hair. My body. My hands. My face. I never understood why we needed ten different bottles when one good bar could do it all.</a:t>
            </a:r>
          </a:p>
          <a:p>
            <a:r>
              <a:rPr lang="en-GB" dirty="0"/>
              <a:t>So I made it.</a:t>
            </a:r>
          </a:p>
          <a:p>
            <a:r>
              <a:rPr lang="en-GB" dirty="0"/>
              <a:t>One bar you never want to travel without.</a:t>
            </a:r>
          </a:p>
          <a:p>
            <a:r>
              <a:rPr lang="en-GB" dirty="0"/>
              <a:t>Premium quality that leaves your skin soft and happy, and stays easy on your pocket. That’s my promise.</a:t>
            </a:r>
          </a:p>
          <a:p>
            <a:pPr>
              <a:spcAft>
                <a:spcPts val="1000"/>
              </a:spcAft>
            </a:pPr>
            <a:r>
              <a:rPr lang="en-GB" dirty="0"/>
              <a:t>Founder,</a:t>
            </a:r>
          </a:p>
          <a:p>
            <a:pPr>
              <a:spcAft>
                <a:spcPts val="1000"/>
              </a:spcAft>
            </a:pPr>
            <a:r>
              <a:rPr lang="en-GB" sz="1800" dirty="0"/>
              <a:t>Royal Basket Group</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CEO's promise</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r>
              <a:rPr lang="en-GB" sz="2000" dirty="0"/>
              <a:t>At Wonder, we believe the things we use every day should be kind to us.</a:t>
            </a:r>
          </a:p>
          <a:p>
            <a:r>
              <a:rPr lang="en-GB" sz="2000" dirty="0"/>
              <a:t>Soap is the simplest ritual there is. You use it every morning, every night, and it touches the skin of everyone you love. So it should be good: gentle, honest, and within reach for everyone, not just a few.</a:t>
            </a:r>
          </a:p>
          <a:p>
            <a:r>
              <a:rPr lang="en-GB" sz="2000" dirty="0"/>
              <a:t>That’s the standard our whole team works to, every day.</a:t>
            </a:r>
          </a:p>
          <a:p>
            <a:endParaRPr lang="en-GB" sz="2000" dirty="0"/>
          </a:p>
          <a:p>
            <a:r>
              <a:rPr lang="en-GB" sz="2000" b="1" dirty="0"/>
              <a:t>My promise to you: gentle on your skin, honest in what we make, and always affordable. Every bar of Wonder is made with the same care we would want for our own families.</a:t>
            </a:r>
          </a:p>
          <a:p>
            <a:endParaRPr lang="en-GB" sz="2000" dirty="0"/>
          </a:p>
          <a:p>
            <a:r>
              <a:rPr lang="en-GB" sz="2000" dirty="0"/>
              <a:t>Thank you for letting Wonder be part of your day.</a:t>
            </a:r>
          </a:p>
          <a:p>
            <a:br>
              <a:rPr lang="en-GB" sz="2000" dirty="0"/>
            </a:br>
            <a:r>
              <a:rPr lang="en-GB" sz="2000" dirty="0"/>
              <a:t>CEO</a:t>
            </a:r>
            <a:r>
              <a:rPr lang="en-US" sz="2000" dirty="0"/>
              <a:t>,</a:t>
            </a:r>
          </a:p>
          <a:p>
            <a:r>
              <a:rPr lang="en-US" sz="2000" dirty="0"/>
              <a:t>Royal Basket Group</a:t>
            </a:r>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The Collection: 5 products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017520"/>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02920">
                <a:tc>
                  <a:txBody>
                    <a:bodyPr/>
                    <a:lstStyle/>
                    <a:p>
                      <a:pPr marL="0" indent="0">
                        <a:buNone/>
                      </a:pPr>
                      <a:r>
                        <a:rPr lang="en-US" sz="1600" b="1" dirty="0">
                          <a:solidFill>
                            <a:schemeClr val="bg1"/>
                          </a:solidFill>
                        </a:rPr>
                        <a:t>Flavour</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Origin of the idea</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Tagline</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502920">
                <a:tc>
                  <a:txBody>
                    <a:bodyPr/>
                    <a:lstStyle/>
                    <a:p>
                      <a:pPr marL="0" indent="0">
                        <a:buNone/>
                      </a:pPr>
                      <a:r>
                        <a:rPr lang="en-US" sz="1600" dirty="0">
                          <a:solidFill>
                            <a:schemeClr val="tx1"/>
                          </a:solidFill>
                        </a:rPr>
                        <a:t>Rose</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Paris, France</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Softly romantic</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600" dirty="0">
                          <a:solidFill>
                            <a:schemeClr val="tx1"/>
                          </a:solidFill>
                        </a:rPr>
                        <a:t>Lavender</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Surrey, UK</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Calm in a bar</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600" dirty="0">
                          <a:solidFill>
                            <a:schemeClr val="tx1"/>
                          </a:solidFill>
                        </a:rPr>
                        <a:t>Aloe Vera</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Seoul, Korea</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Fresh, soothing moisture</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600" dirty="0">
                          <a:solidFill>
                            <a:schemeClr val="tx1"/>
                          </a:solidFill>
                        </a:rPr>
                        <a:t>Lemon</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Amalfi, Italy</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 citrus afternoon</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buNone/>
                      </a:pPr>
                      <a:r>
                        <a:rPr lang="en-US" sz="1600" dirty="0">
                          <a:solidFill>
                            <a:schemeClr val="tx1"/>
                          </a:solidFill>
                        </a:rPr>
                        <a:t>Coconut</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Bali, Indonesia</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The island daydream</a:t>
                      </a:r>
                      <a:endParaRPr lang="en-US" sz="1600" dirty="0"/>
                    </a:p>
                  </a:txBody>
                  <a:tcPr marL="137160" marR="137160">
                    <a:lnL w="12700" cap="flat" cmpd="sng" algn="ctr">
                      <a:solidFill>
                        <a:srgbClr val="D9C48A"/>
                      </a:solidFill>
                      <a:prstDash val="solid"/>
                      <a:round/>
                      <a:headEnd type="none" w="med" len="med"/>
                      <a:tailEnd type="none" w="med" len="med"/>
                    </a:lnL>
                    <a:lnR w="12700" cap="flat" cmpd="sng" algn="ctr">
                      <a:solidFill>
                        <a:srgbClr val="D9C48A"/>
                      </a:solidFill>
                      <a:prstDash val="solid"/>
                      <a:round/>
                      <a:headEnd type="none" w="med" len="med"/>
                      <a:tailEnd type="none" w="med" len="med"/>
                    </a:lnR>
                    <a:lnT w="12700" cap="flat" cmpd="sng" algn="ctr">
                      <a:solidFill>
                        <a:srgbClr val="D9C48A"/>
                      </a:solidFill>
                      <a:prstDash val="solid"/>
                      <a:round/>
                      <a:headEnd type="none" w="med" len="med"/>
                      <a:tailEnd type="none" w="med" len="med"/>
                    </a:lnT>
                    <a:lnB w="12700" cap="flat" cmpd="sng" algn="ctr">
                      <a:solidFill>
                        <a:srgbClr val="D9C48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029200"/>
            <a:ext cx="1106424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Each product page needs: pack photo, name, scent description, "Best for" line, a "Bulk orders, talk to us" button linking to Contact. Optional: a different accent colour per flavour.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Around the World</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Hero banner: "Wonder, wherever you are."</a:t>
            </a:r>
            <a:endParaRPr lang="en-US" sz="1900" dirty="0"/>
          </a:p>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Gallery grouped by country or city: shelf shots, store visits, people holding the product, landmark shots</a:t>
            </a:r>
            <a:endParaRPr lang="en-US" sz="1900" dirty="0"/>
          </a:p>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Short video reel (customer and retailer clips)</a:t>
            </a:r>
            <a:endParaRPr lang="en-US" sz="1900" dirty="0"/>
          </a:p>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Simple map or list of countries where Wonder is available</a:t>
            </a:r>
            <a:endParaRPr lang="en-US" sz="1900" dirty="0"/>
          </a:p>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Closing line: "Don't see your country yet? Talk to us."</a:t>
            </a:r>
            <a:endParaRPr lang="en-US" sz="1900" dirty="0"/>
          </a:p>
          <a:p>
            <a:pPr marL="342900" indent="-342900">
              <a:spcAft>
                <a:spcPts val="800"/>
              </a:spcAft>
              <a:buSzPct val="100000"/>
              <a:buChar char="•"/>
            </a:pPr>
            <a:r>
              <a:rPr lang="en-US" sz="1900" dirty="0">
                <a:solidFill>
                  <a:schemeClr val="tx1"/>
                </a:solidFill>
                <a:latin typeface="Calibri" pitchFamily="34" charset="0"/>
                <a:ea typeface="Calibri" pitchFamily="34" charset="-122"/>
                <a:cs typeface="Calibri" pitchFamily="34" charset="-120"/>
              </a:rPr>
              <a:t>Optional: map linking each scent to its origin place</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Get in Touch</a:t>
            </a:r>
            <a:endParaRPr lang="en-US" sz="3000" dirty="0"/>
          </a:p>
        </p:txBody>
      </p:sp>
      <p:sp>
        <p:nvSpPr>
          <p:cNvPr id="5" name="Text 3"/>
          <p:cNvSpPr txBox="1"/>
          <p:nvPr/>
        </p:nvSpPr>
        <p:spPr>
          <a:xfrm>
            <a:off x="6309360" y="1463040"/>
            <a:ext cx="5486400" cy="320040"/>
          </a:xfrm>
          <a:prstGeom prst="rect">
            <a:avLst/>
          </a:prstGeom>
          <a:noFill/>
          <a:ln/>
        </p:spPr>
        <p:txBody>
          <a:bodyPr wrap="square" lIns="0" tIns="0" rIns="0" bIns="0" rtlCol="0" anchor="ctr"/>
          <a:lstStyle/>
          <a:p>
            <a:pPr marL="0" indent="0">
              <a:buNone/>
            </a:pPr>
            <a:r>
              <a:rPr lang="en-US" sz="1200" b="1" kern="0" spc="200" dirty="0">
                <a:solidFill>
                  <a:schemeClr val="accent2"/>
                </a:solidFill>
              </a:rPr>
              <a:t>DETAILS AND SOCIALS</a:t>
            </a:r>
            <a:endParaRPr lang="en-US" sz="1200" dirty="0"/>
          </a:p>
        </p:txBody>
      </p:sp>
      <p:sp>
        <p:nvSpPr>
          <p:cNvPr id="6" name="Text 4"/>
          <p:cNvSpPr txBox="1"/>
          <p:nvPr/>
        </p:nvSpPr>
        <p:spPr>
          <a:xfrm>
            <a:off x="6309360" y="1828800"/>
            <a:ext cx="5303520" cy="3474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Email: hello@royalbasketgroup.com</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Instagram: @wonderbeautysoap</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TikTok: @royal_basket_group</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Facebook page</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Address and map: </a:t>
            </a:r>
            <a:endParaRPr lang="en-US" sz="1700" dirty="0"/>
          </a:p>
          <a:p>
            <a:pPr marL="342900" indent="-3429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Footer line: "Made with care, from us to you."</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19</a:t>
            </a:fld>
            <a:endParaRPr lang="en-US"/>
          </a:p>
        </p:txBody>
      </p:sp>
      <p:pic>
        <p:nvPicPr>
          <p:cNvPr id="8" name="Picture 7">
            <a:extLst>
              <a:ext uri="{FF2B5EF4-FFF2-40B4-BE49-F238E27FC236}">
                <a16:creationId xmlns:a16="http://schemas.microsoft.com/office/drawing/2014/main" id="{82E063C8-1FBF-C4F4-CF27-1A7CCE5C0FBF}"/>
              </a:ext>
            </a:extLst>
          </p:cNvPr>
          <p:cNvPicPr>
            <a:picLocks noChangeAspect="1"/>
          </p:cNvPicPr>
          <p:nvPr/>
        </p:nvPicPr>
        <p:blipFill>
          <a:blip r:embed="rId3"/>
          <a:stretch>
            <a:fillRect/>
          </a:stretch>
        </p:blipFill>
        <p:spPr>
          <a:xfrm>
            <a:off x="820189" y="1463040"/>
            <a:ext cx="4767811" cy="431673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Taglines and lines to place on the site</a:t>
            </a:r>
            <a:endParaRPr lang="en-US" sz="3000" dirty="0"/>
          </a:p>
        </p:txBody>
      </p:sp>
      <p:sp>
        <p:nvSpPr>
          <p:cNvPr id="3" name="Text 1"/>
          <p:cNvSpPr txBox="1"/>
          <p:nvPr/>
        </p:nvSpPr>
        <p:spPr>
          <a:xfrm>
            <a:off x="563880" y="153162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Home hero: "Scent. Lather. Wonder."</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Under welcome note: "Every scent tells a story."</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Rose: "Softly romantic"  ·  Lavender: "Calm in a bar"  ·  Aloe Vera: "Fresh, soothing moisture"</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Lemon: "A citrus afternoon"  ·  Coconut: "The island daydream"</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Brand promises: Fragrance · Premium quality · Good lather</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Other options: "Everyday luxury, within reach." · "Lather that feels like a little celebration." ·</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chemeClr val="tx1"/>
                </a:solidFill>
                <a:latin typeface="Georgia" pitchFamily="34" charset="0"/>
                <a:ea typeface="Georgia" pitchFamily="34" charset="-122"/>
                <a:cs typeface="Georgia" pitchFamily="34" charset="-120"/>
              </a:rPr>
              <a:t>Notes for the designer</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Mobile-first layout: most visitors will come from social media</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Rename the "In the city" tab to "Around the World"</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Each flavour can have its own accent colour</a:t>
            </a:r>
            <a:endParaRPr lang="en-US" sz="1800" dirty="0"/>
          </a:p>
          <a:p>
            <a:pPr marL="342900" indent="-342900">
              <a:spcAft>
                <a:spcPts val="800"/>
              </a:spcAft>
              <a:buSzPct val="100000"/>
              <a:buChar char="•"/>
            </a:pPr>
            <a:r>
              <a:rPr lang="en-US" sz="1800" dirty="0">
                <a:solidFill>
                  <a:schemeClr val="tx1"/>
                </a:solidFill>
                <a:latin typeface="Calibri" pitchFamily="34" charset="0"/>
                <a:ea typeface="Calibri" pitchFamily="34" charset="-122"/>
                <a:cs typeface="Calibri" pitchFamily="34" charset="-120"/>
              </a:rPr>
              <a:t>Eco-friendly box packaging is a selling point: give it space on Home</a:t>
            </a:r>
          </a:p>
          <a:p>
            <a:pPr marL="342900" indent="-342900">
              <a:spcAft>
                <a:spcPts val="800"/>
              </a:spcAft>
              <a:buSzPct val="100000"/>
              <a:buChar char="•"/>
            </a:pPr>
            <a:r>
              <a:rPr lang="en-US" dirty="0">
                <a:latin typeface="Calibri" pitchFamily="34" charset="0"/>
                <a:ea typeface="Calibri" pitchFamily="34" charset="-122"/>
                <a:cs typeface="Calibri" pitchFamily="34" charset="-120"/>
              </a:rPr>
              <a:t>Add Cosmetic safety report </a:t>
            </a:r>
          </a:p>
          <a:p>
            <a:pPr marL="342900" indent="-342900">
              <a:spcAft>
                <a:spcPts val="800"/>
              </a:spcAft>
              <a:buSzPct val="100000"/>
              <a:buChar char="•"/>
            </a:pPr>
            <a:r>
              <a:rPr lang="en-US" sz="1800" dirty="0">
                <a:latin typeface="Calibri" pitchFamily="34" charset="0"/>
                <a:ea typeface="Calibri" pitchFamily="34" charset="-122"/>
                <a:cs typeface="Calibri" pitchFamily="34" charset="-120"/>
              </a:rPr>
              <a:t>Add AI videos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6A1F"/>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961BA2-03C8-4834-8BFE-6B38DE6A56B1}"/>
              </a:ext>
            </a:extLst>
          </p:cNvPr>
          <p:cNvPicPr>
            <a:picLocks noChangeAspect="1"/>
          </p:cNvPicPr>
          <p:nvPr/>
        </p:nvPicPr>
        <p:blipFill>
          <a:blip r:embed="rId2"/>
          <a:stretch>
            <a:fillRect/>
          </a:stretch>
        </p:blipFill>
        <p:spPr>
          <a:xfrm>
            <a:off x="7422021" y="514328"/>
            <a:ext cx="3580392" cy="6129232"/>
          </a:xfrm>
          <a:prstGeom prst="rect">
            <a:avLst/>
          </a:prstGeom>
        </p:spPr>
      </p:pic>
      <p:sp>
        <p:nvSpPr>
          <p:cNvPr id="4" name="TextBox 3">
            <a:extLst>
              <a:ext uri="{FF2B5EF4-FFF2-40B4-BE49-F238E27FC236}">
                <a16:creationId xmlns:a16="http://schemas.microsoft.com/office/drawing/2014/main" id="{86C10045-4159-DE29-BC77-08FC12650551}"/>
              </a:ext>
            </a:extLst>
          </p:cNvPr>
          <p:cNvSpPr txBox="1"/>
          <p:nvPr/>
        </p:nvSpPr>
        <p:spPr>
          <a:xfrm>
            <a:off x="5072743" y="1036532"/>
            <a:ext cx="2046514" cy="584775"/>
          </a:xfrm>
          <a:prstGeom prst="rect">
            <a:avLst/>
          </a:prstGeom>
          <a:solidFill>
            <a:srgbClr val="00B050"/>
          </a:solidFill>
        </p:spPr>
        <p:txBody>
          <a:bodyPr wrap="square" rtlCol="0">
            <a:spAutoFit/>
          </a:bodyPr>
          <a:lstStyle/>
          <a:p>
            <a:r>
              <a:rPr lang="en-GB" sz="1600" dirty="0">
                <a:solidFill>
                  <a:schemeClr val="bg1"/>
                </a:solidFill>
                <a:latin typeface="+mj-lt"/>
              </a:rPr>
              <a:t>All 5 FLAVORS </a:t>
            </a:r>
          </a:p>
          <a:p>
            <a:endParaRPr lang="en-GB" sz="1600" dirty="0">
              <a:solidFill>
                <a:schemeClr val="bg1"/>
              </a:solidFill>
              <a:latin typeface="+mj-lt"/>
            </a:endParaRPr>
          </a:p>
        </p:txBody>
      </p:sp>
      <p:pic>
        <p:nvPicPr>
          <p:cNvPr id="6" name="Picture 5">
            <a:extLst>
              <a:ext uri="{FF2B5EF4-FFF2-40B4-BE49-F238E27FC236}">
                <a16:creationId xmlns:a16="http://schemas.microsoft.com/office/drawing/2014/main" id="{29022DFD-F8BE-5F0D-C1AA-F71C6A744434}"/>
              </a:ext>
            </a:extLst>
          </p:cNvPr>
          <p:cNvPicPr>
            <a:picLocks noChangeAspect="1"/>
          </p:cNvPicPr>
          <p:nvPr/>
        </p:nvPicPr>
        <p:blipFill>
          <a:blip r:embed="rId3"/>
          <a:stretch>
            <a:fillRect/>
          </a:stretch>
        </p:blipFill>
        <p:spPr>
          <a:xfrm>
            <a:off x="280630" y="514328"/>
            <a:ext cx="4424395" cy="4976849"/>
          </a:xfrm>
          <a:prstGeom prst="rect">
            <a:avLst/>
          </a:prstGeom>
        </p:spPr>
      </p:pic>
      <p:pic>
        <p:nvPicPr>
          <p:cNvPr id="8" name="Picture 7">
            <a:extLst>
              <a:ext uri="{FF2B5EF4-FFF2-40B4-BE49-F238E27FC236}">
                <a16:creationId xmlns:a16="http://schemas.microsoft.com/office/drawing/2014/main" id="{D7D4FF7C-8E1E-978D-4C96-03CF2FB2D5B5}"/>
              </a:ext>
            </a:extLst>
          </p:cNvPr>
          <p:cNvPicPr>
            <a:picLocks noChangeAspect="1"/>
          </p:cNvPicPr>
          <p:nvPr/>
        </p:nvPicPr>
        <p:blipFill>
          <a:blip r:embed="rId4"/>
          <a:stretch>
            <a:fillRect/>
          </a:stretch>
        </p:blipFill>
        <p:spPr>
          <a:xfrm>
            <a:off x="2513554" y="4114800"/>
            <a:ext cx="6846630" cy="2160142"/>
          </a:xfrm>
          <a:prstGeom prst="rect">
            <a:avLst/>
          </a:prstGeom>
        </p:spPr>
      </p:pic>
    </p:spTree>
    <p:extLst>
      <p:ext uri="{BB962C8B-B14F-4D97-AF65-F5344CB8AC3E}">
        <p14:creationId xmlns:p14="http://schemas.microsoft.com/office/powerpoint/2010/main" val="1712701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F72A-023D-876E-677A-6F0E35506BC5}"/>
              </a:ext>
            </a:extLst>
          </p:cNvPr>
          <p:cNvSpPr>
            <a:spLocks noGrp="1"/>
          </p:cNvSpPr>
          <p:nvPr>
            <p:ph type="ctrTitle"/>
          </p:nvPr>
        </p:nvSpPr>
        <p:spPr>
          <a:xfrm>
            <a:off x="177753" y="6271747"/>
            <a:ext cx="11956257" cy="2387600"/>
          </a:xfrm>
        </p:spPr>
        <p:txBody>
          <a:bodyPr/>
          <a:lstStyle/>
          <a:p>
            <a:endParaRPr lang="en-GB" dirty="0"/>
          </a:p>
        </p:txBody>
      </p:sp>
      <p:sp>
        <p:nvSpPr>
          <p:cNvPr id="3" name="Subtitle 2">
            <a:extLst>
              <a:ext uri="{FF2B5EF4-FFF2-40B4-BE49-F238E27FC236}">
                <a16:creationId xmlns:a16="http://schemas.microsoft.com/office/drawing/2014/main" id="{9B73C8BC-E035-221F-2D52-C5E87CF25981}"/>
              </a:ext>
            </a:extLst>
          </p:cNvPr>
          <p:cNvSpPr>
            <a:spLocks noGrp="1"/>
          </p:cNvSpPr>
          <p:nvPr>
            <p:ph type="subTitle" idx="1"/>
          </p:nvPr>
        </p:nvSpPr>
        <p:spPr>
          <a:xfrm>
            <a:off x="-77741" y="2270778"/>
            <a:ext cx="9144000" cy="1655762"/>
          </a:xfrm>
        </p:spPr>
        <p:txBody>
          <a:bodyPr/>
          <a:lstStyle/>
          <a:p>
            <a:r>
              <a:rPr lang="en-GB" dirty="0"/>
              <a:t>LOGOS</a:t>
            </a:r>
          </a:p>
        </p:txBody>
      </p:sp>
      <p:pic>
        <p:nvPicPr>
          <p:cNvPr id="5" name="Picture 4">
            <a:extLst>
              <a:ext uri="{FF2B5EF4-FFF2-40B4-BE49-F238E27FC236}">
                <a16:creationId xmlns:a16="http://schemas.microsoft.com/office/drawing/2014/main" id="{C3FFAF09-2641-BD2A-1DCD-56BFBC9EF3C6}"/>
              </a:ext>
            </a:extLst>
          </p:cNvPr>
          <p:cNvPicPr>
            <a:picLocks noChangeAspect="1"/>
          </p:cNvPicPr>
          <p:nvPr/>
        </p:nvPicPr>
        <p:blipFill>
          <a:blip r:embed="rId3"/>
          <a:stretch>
            <a:fillRect/>
          </a:stretch>
        </p:blipFill>
        <p:spPr>
          <a:xfrm>
            <a:off x="0" y="57928"/>
            <a:ext cx="12192000" cy="1443451"/>
          </a:xfrm>
          <a:prstGeom prst="rect">
            <a:avLst/>
          </a:prstGeom>
        </p:spPr>
      </p:pic>
      <p:pic>
        <p:nvPicPr>
          <p:cNvPr id="7" name="Picture 6">
            <a:extLst>
              <a:ext uri="{FF2B5EF4-FFF2-40B4-BE49-F238E27FC236}">
                <a16:creationId xmlns:a16="http://schemas.microsoft.com/office/drawing/2014/main" id="{56CDDCE0-1636-F587-7685-5C3CE7930C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153" y="2689143"/>
            <a:ext cx="3606053" cy="2474795"/>
          </a:xfrm>
          <a:prstGeom prst="rect">
            <a:avLst/>
          </a:prstGeom>
        </p:spPr>
      </p:pic>
      <p:pic>
        <p:nvPicPr>
          <p:cNvPr id="9" name="Picture 8">
            <a:extLst>
              <a:ext uri="{FF2B5EF4-FFF2-40B4-BE49-F238E27FC236}">
                <a16:creationId xmlns:a16="http://schemas.microsoft.com/office/drawing/2014/main" id="{05A89A08-C058-3F68-1A07-60AFA60CA1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4053" y="2689144"/>
            <a:ext cx="3606053" cy="2474794"/>
          </a:xfrm>
          <a:prstGeom prst="rect">
            <a:avLst/>
          </a:prstGeom>
        </p:spPr>
      </p:pic>
      <p:sp>
        <p:nvSpPr>
          <p:cNvPr id="10" name="TextBox 9">
            <a:extLst>
              <a:ext uri="{FF2B5EF4-FFF2-40B4-BE49-F238E27FC236}">
                <a16:creationId xmlns:a16="http://schemas.microsoft.com/office/drawing/2014/main" id="{C6993BA2-5E28-D8ED-89E7-2E58DDE5BC70}"/>
              </a:ext>
            </a:extLst>
          </p:cNvPr>
          <p:cNvSpPr txBox="1"/>
          <p:nvPr/>
        </p:nvSpPr>
        <p:spPr>
          <a:xfrm>
            <a:off x="463923" y="544177"/>
            <a:ext cx="1801906" cy="369332"/>
          </a:xfrm>
          <a:prstGeom prst="rect">
            <a:avLst/>
          </a:prstGeom>
          <a:solidFill>
            <a:srgbClr val="FFFF00"/>
          </a:solidFill>
        </p:spPr>
        <p:txBody>
          <a:bodyPr wrap="square" rtlCol="0">
            <a:spAutoFit/>
          </a:bodyPr>
          <a:lstStyle/>
          <a:p>
            <a:r>
              <a:rPr lang="en-GB" dirty="0"/>
              <a:t>ADD LOGO</a:t>
            </a:r>
          </a:p>
        </p:txBody>
      </p:sp>
    </p:spTree>
    <p:extLst>
      <p:ext uri="{BB962C8B-B14F-4D97-AF65-F5344CB8AC3E}">
        <p14:creationId xmlns:p14="http://schemas.microsoft.com/office/powerpoint/2010/main" val="1175148330"/>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B1CE-0D79-16A4-EB93-C2D666170D8C}"/>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8D1764C9-8AB6-2811-BD08-E960240C5AB9}"/>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B4D400AE-E461-B524-BB93-5F45BD23A23C}"/>
              </a:ext>
            </a:extLst>
          </p:cNvPr>
          <p:cNvPicPr>
            <a:picLocks noChangeAspect="1"/>
          </p:cNvPicPr>
          <p:nvPr/>
        </p:nvPicPr>
        <p:blipFill>
          <a:blip r:embed="rId4"/>
          <a:stretch>
            <a:fillRect/>
          </a:stretch>
        </p:blipFill>
        <p:spPr>
          <a:xfrm>
            <a:off x="526996" y="425967"/>
            <a:ext cx="11138008" cy="5658827"/>
          </a:xfrm>
          <a:prstGeom prst="rect">
            <a:avLst/>
          </a:prstGeom>
        </p:spPr>
      </p:pic>
      <p:sp>
        <p:nvSpPr>
          <p:cNvPr id="6" name="TextBox 5">
            <a:extLst>
              <a:ext uri="{FF2B5EF4-FFF2-40B4-BE49-F238E27FC236}">
                <a16:creationId xmlns:a16="http://schemas.microsoft.com/office/drawing/2014/main" id="{C2A76510-6C49-2834-4601-3F7112C53038}"/>
              </a:ext>
            </a:extLst>
          </p:cNvPr>
          <p:cNvSpPr txBox="1"/>
          <p:nvPr/>
        </p:nvSpPr>
        <p:spPr>
          <a:xfrm>
            <a:off x="10219764" y="1244289"/>
            <a:ext cx="1781735" cy="923330"/>
          </a:xfrm>
          <a:prstGeom prst="rect">
            <a:avLst/>
          </a:prstGeom>
          <a:solidFill>
            <a:srgbClr val="FFFF00"/>
          </a:solidFill>
        </p:spPr>
        <p:txBody>
          <a:bodyPr wrap="square" rtlCol="0">
            <a:spAutoFit/>
          </a:bodyPr>
          <a:lstStyle/>
          <a:p>
            <a:r>
              <a:rPr lang="en-GB" dirty="0"/>
              <a:t>ADD THE BARS TOO AS DROP DOWN</a:t>
            </a:r>
          </a:p>
        </p:txBody>
      </p:sp>
      <p:sp>
        <p:nvSpPr>
          <p:cNvPr id="7" name="TextBox 6">
            <a:extLst>
              <a:ext uri="{FF2B5EF4-FFF2-40B4-BE49-F238E27FC236}">
                <a16:creationId xmlns:a16="http://schemas.microsoft.com/office/drawing/2014/main" id="{1E8A9C7E-A744-8610-27B2-E31183BF4254}"/>
              </a:ext>
            </a:extLst>
          </p:cNvPr>
          <p:cNvSpPr txBox="1"/>
          <p:nvPr/>
        </p:nvSpPr>
        <p:spPr>
          <a:xfrm>
            <a:off x="6400800" y="2770094"/>
            <a:ext cx="3314700" cy="369332"/>
          </a:xfrm>
          <a:prstGeom prst="rect">
            <a:avLst/>
          </a:prstGeom>
          <a:solidFill>
            <a:schemeClr val="accent6"/>
          </a:solidFill>
        </p:spPr>
        <p:txBody>
          <a:bodyPr wrap="square" rtlCol="0">
            <a:spAutoFit/>
          </a:bodyPr>
          <a:lstStyle/>
          <a:p>
            <a:r>
              <a:rPr lang="en-GB" b="1" dirty="0">
                <a:solidFill>
                  <a:schemeClr val="bg1"/>
                </a:solidFill>
              </a:rPr>
              <a:t>Add new PICTURE </a:t>
            </a:r>
          </a:p>
        </p:txBody>
      </p:sp>
      <p:sp>
        <p:nvSpPr>
          <p:cNvPr id="8" name="TextBox 7">
            <a:extLst>
              <a:ext uri="{FF2B5EF4-FFF2-40B4-BE49-F238E27FC236}">
                <a16:creationId xmlns:a16="http://schemas.microsoft.com/office/drawing/2014/main" id="{4568BBB8-3535-A8EE-CE8B-39521C0B42FF}"/>
              </a:ext>
            </a:extLst>
          </p:cNvPr>
          <p:cNvSpPr txBox="1"/>
          <p:nvPr/>
        </p:nvSpPr>
        <p:spPr>
          <a:xfrm>
            <a:off x="1082489" y="4206359"/>
            <a:ext cx="4316506" cy="954107"/>
          </a:xfrm>
          <a:prstGeom prst="rect">
            <a:avLst/>
          </a:prstGeom>
          <a:solidFill>
            <a:schemeClr val="accent5"/>
          </a:solidFill>
        </p:spPr>
        <p:txBody>
          <a:bodyPr wrap="square" rtlCol="0">
            <a:spAutoFit/>
          </a:bodyPr>
          <a:lstStyle/>
          <a:p>
            <a:r>
              <a:rPr lang="en-GB" sz="2800" b="1" dirty="0">
                <a:solidFill>
                  <a:schemeClr val="bg1"/>
                </a:solidFill>
              </a:rPr>
              <a:t>ADD MISSION + VISION ON HOME PAGE</a:t>
            </a:r>
          </a:p>
        </p:txBody>
      </p:sp>
    </p:spTree>
    <p:extLst>
      <p:ext uri="{BB962C8B-B14F-4D97-AF65-F5344CB8AC3E}">
        <p14:creationId xmlns:p14="http://schemas.microsoft.com/office/powerpoint/2010/main" val="211770343"/>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3C37-455F-9B4B-B6C5-49D043C4D960}"/>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DDFA1E8E-1ADB-C3B3-A63B-40193A0717E2}"/>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F90D7D9E-ADC3-F620-95DF-DBC0C31E0A76}"/>
              </a:ext>
            </a:extLst>
          </p:cNvPr>
          <p:cNvPicPr>
            <a:picLocks noChangeAspect="1"/>
          </p:cNvPicPr>
          <p:nvPr/>
        </p:nvPicPr>
        <p:blipFill>
          <a:blip r:embed="rId3"/>
          <a:stretch>
            <a:fillRect/>
          </a:stretch>
        </p:blipFill>
        <p:spPr>
          <a:xfrm>
            <a:off x="0" y="128573"/>
            <a:ext cx="12192000" cy="4193830"/>
          </a:xfrm>
          <a:prstGeom prst="rect">
            <a:avLst/>
          </a:prstGeom>
        </p:spPr>
      </p:pic>
      <p:sp>
        <p:nvSpPr>
          <p:cNvPr id="6" name="TextBox 5">
            <a:extLst>
              <a:ext uri="{FF2B5EF4-FFF2-40B4-BE49-F238E27FC236}">
                <a16:creationId xmlns:a16="http://schemas.microsoft.com/office/drawing/2014/main" id="{58C77AF6-0E5C-FAEC-BA8F-2013A4D3BD16}"/>
              </a:ext>
            </a:extLst>
          </p:cNvPr>
          <p:cNvSpPr txBox="1"/>
          <p:nvPr/>
        </p:nvSpPr>
        <p:spPr>
          <a:xfrm>
            <a:off x="4087905" y="4394836"/>
            <a:ext cx="4726641" cy="1815882"/>
          </a:xfrm>
          <a:prstGeom prst="rect">
            <a:avLst/>
          </a:prstGeom>
          <a:solidFill>
            <a:srgbClr val="00B050"/>
          </a:solidFill>
        </p:spPr>
        <p:txBody>
          <a:bodyPr wrap="square" rtlCol="0">
            <a:spAutoFit/>
          </a:bodyPr>
          <a:lstStyle/>
          <a:p>
            <a:pPr marL="342900" indent="-342900">
              <a:buSzPct val="100000"/>
              <a:buChar char="•"/>
            </a:pPr>
            <a:r>
              <a:rPr lang="en-US" sz="2800" b="1" dirty="0">
                <a:solidFill>
                  <a:schemeClr val="bg1"/>
                </a:solidFill>
                <a:latin typeface="Calibri" pitchFamily="34" charset="0"/>
                <a:ea typeface="Calibri" pitchFamily="34" charset="-122"/>
                <a:cs typeface="Calibri" pitchFamily="34" charset="-120"/>
              </a:rPr>
              <a:t>Brand promises: </a:t>
            </a:r>
          </a:p>
          <a:p>
            <a:pPr marL="342900" indent="-342900">
              <a:buSzPct val="100000"/>
              <a:buChar char="•"/>
            </a:pPr>
            <a:endParaRPr lang="en-US" sz="2800" b="1" dirty="0">
              <a:solidFill>
                <a:schemeClr val="bg1"/>
              </a:solidFill>
              <a:latin typeface="Calibri" pitchFamily="34" charset="0"/>
              <a:ea typeface="Calibri" pitchFamily="34" charset="-122"/>
              <a:cs typeface="Calibri" pitchFamily="34" charset="-120"/>
            </a:endParaRPr>
          </a:p>
          <a:p>
            <a:pPr marL="342900" indent="-342900">
              <a:buSzPct val="100000"/>
              <a:buChar char="•"/>
            </a:pPr>
            <a:r>
              <a:rPr lang="en-US" sz="2800" b="1" dirty="0">
                <a:solidFill>
                  <a:schemeClr val="bg1"/>
                </a:solidFill>
                <a:latin typeface="Calibri" pitchFamily="34" charset="0"/>
                <a:ea typeface="Calibri" pitchFamily="34" charset="-122"/>
                <a:cs typeface="Calibri" pitchFamily="34" charset="-120"/>
              </a:rPr>
              <a:t>SCENT GLOW </a:t>
            </a:r>
          </a:p>
          <a:p>
            <a:pPr marL="342900" indent="-342900">
              <a:buSzPct val="100000"/>
              <a:buChar char="•"/>
            </a:pPr>
            <a:r>
              <a:rPr lang="en-US" sz="2800" b="1" dirty="0">
                <a:solidFill>
                  <a:schemeClr val="bg1"/>
                </a:solidFill>
                <a:latin typeface="Calibri" pitchFamily="34" charset="0"/>
                <a:ea typeface="Calibri" pitchFamily="34" charset="-122"/>
                <a:cs typeface="Calibri" pitchFamily="34" charset="-120"/>
              </a:rPr>
              <a:t>WONDER</a:t>
            </a:r>
            <a:endParaRPr lang="en-GB" sz="2800" b="1" dirty="0">
              <a:solidFill>
                <a:schemeClr val="bg1"/>
              </a:solidFill>
            </a:endParaRPr>
          </a:p>
        </p:txBody>
      </p:sp>
    </p:spTree>
    <p:extLst>
      <p:ext uri="{BB962C8B-B14F-4D97-AF65-F5344CB8AC3E}">
        <p14:creationId xmlns:p14="http://schemas.microsoft.com/office/powerpoint/2010/main" val="328879092"/>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6338-627A-72EB-CC29-D91201E603F0}"/>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8218A834-7E3F-AC31-53B8-312F62AB1EEB}"/>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527ABCFA-B3E0-5A91-03F2-CF7CC9FC1628}"/>
              </a:ext>
            </a:extLst>
          </p:cNvPr>
          <p:cNvPicPr>
            <a:picLocks noChangeAspect="1"/>
          </p:cNvPicPr>
          <p:nvPr/>
        </p:nvPicPr>
        <p:blipFill>
          <a:blip r:embed="rId2"/>
          <a:stretch>
            <a:fillRect/>
          </a:stretch>
        </p:blipFill>
        <p:spPr>
          <a:xfrm>
            <a:off x="0" y="1260095"/>
            <a:ext cx="12096838" cy="1581162"/>
          </a:xfrm>
          <a:prstGeom prst="rect">
            <a:avLst/>
          </a:prstGeom>
        </p:spPr>
      </p:pic>
      <p:sp>
        <p:nvSpPr>
          <p:cNvPr id="6" name="TextBox 5">
            <a:extLst>
              <a:ext uri="{FF2B5EF4-FFF2-40B4-BE49-F238E27FC236}">
                <a16:creationId xmlns:a16="http://schemas.microsoft.com/office/drawing/2014/main" id="{5F4879A9-F390-8071-CE4D-9CAE048E365C}"/>
              </a:ext>
            </a:extLst>
          </p:cNvPr>
          <p:cNvSpPr txBox="1"/>
          <p:nvPr/>
        </p:nvSpPr>
        <p:spPr>
          <a:xfrm>
            <a:off x="3110753" y="1727510"/>
            <a:ext cx="7557247" cy="646331"/>
          </a:xfrm>
          <a:prstGeom prst="rect">
            <a:avLst/>
          </a:prstGeom>
          <a:solidFill>
            <a:schemeClr val="accent2"/>
          </a:solidFill>
        </p:spPr>
        <p:txBody>
          <a:bodyPr wrap="square" rtlCol="0">
            <a:spAutoFit/>
          </a:bodyPr>
          <a:lstStyle/>
          <a:p>
            <a:r>
              <a:rPr lang="en-GB" sz="3600" b="1" dirty="0">
                <a:solidFill>
                  <a:schemeClr val="bg1"/>
                </a:solidFill>
              </a:rPr>
              <a:t>WONDER, wherever you are.</a:t>
            </a:r>
          </a:p>
        </p:txBody>
      </p:sp>
    </p:spTree>
    <p:extLst>
      <p:ext uri="{BB962C8B-B14F-4D97-AF65-F5344CB8AC3E}">
        <p14:creationId xmlns:p14="http://schemas.microsoft.com/office/powerpoint/2010/main" val="139428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1BBB5-D0D9-40A0-8F76-5A79A0CD9E8B}"/>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6449B355-F3DC-BC17-CCEA-AA63F27D857E}"/>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ED1A2480-CA41-731D-D69C-75F0A87648C0}"/>
              </a:ext>
            </a:extLst>
          </p:cNvPr>
          <p:cNvPicPr>
            <a:picLocks noChangeAspect="1"/>
          </p:cNvPicPr>
          <p:nvPr/>
        </p:nvPicPr>
        <p:blipFill>
          <a:blip r:embed="rId2"/>
          <a:stretch>
            <a:fillRect/>
          </a:stretch>
        </p:blipFill>
        <p:spPr>
          <a:xfrm>
            <a:off x="528597" y="1162033"/>
            <a:ext cx="11134806" cy="4533933"/>
          </a:xfrm>
          <a:prstGeom prst="rect">
            <a:avLst/>
          </a:prstGeom>
        </p:spPr>
      </p:pic>
      <p:sp>
        <p:nvSpPr>
          <p:cNvPr id="6" name="TextBox 5">
            <a:extLst>
              <a:ext uri="{FF2B5EF4-FFF2-40B4-BE49-F238E27FC236}">
                <a16:creationId xmlns:a16="http://schemas.microsoft.com/office/drawing/2014/main" id="{252F4F5F-2149-45A2-4ECD-1987DBAA5F05}"/>
              </a:ext>
            </a:extLst>
          </p:cNvPr>
          <p:cNvSpPr txBox="1"/>
          <p:nvPr/>
        </p:nvSpPr>
        <p:spPr>
          <a:xfrm>
            <a:off x="3529853" y="3341594"/>
            <a:ext cx="4753535" cy="369332"/>
          </a:xfrm>
          <a:prstGeom prst="rect">
            <a:avLst/>
          </a:prstGeom>
          <a:solidFill>
            <a:srgbClr val="FFFF00"/>
          </a:solidFill>
        </p:spPr>
        <p:txBody>
          <a:bodyPr wrap="square" rtlCol="0">
            <a:spAutoFit/>
          </a:bodyPr>
          <a:lstStyle/>
          <a:p>
            <a:r>
              <a:rPr lang="en-GB" dirty="0"/>
              <a:t>ADD NEW IMAGES</a:t>
            </a:r>
          </a:p>
        </p:txBody>
      </p:sp>
      <p:sp>
        <p:nvSpPr>
          <p:cNvPr id="7" name="TextBox 6">
            <a:extLst>
              <a:ext uri="{FF2B5EF4-FFF2-40B4-BE49-F238E27FC236}">
                <a16:creationId xmlns:a16="http://schemas.microsoft.com/office/drawing/2014/main" id="{F2AA9804-52AE-24AD-3904-71D0264EBEB5}"/>
              </a:ext>
            </a:extLst>
          </p:cNvPr>
          <p:cNvSpPr txBox="1"/>
          <p:nvPr/>
        </p:nvSpPr>
        <p:spPr>
          <a:xfrm>
            <a:off x="6858000" y="1000035"/>
            <a:ext cx="4390464" cy="1200329"/>
          </a:xfrm>
          <a:prstGeom prst="rect">
            <a:avLst/>
          </a:prstGeom>
          <a:solidFill>
            <a:srgbClr val="FF0000"/>
          </a:solidFill>
        </p:spPr>
        <p:txBody>
          <a:bodyPr wrap="square" rtlCol="0">
            <a:spAutoFit/>
          </a:bodyPr>
          <a:lstStyle/>
          <a:p>
            <a:r>
              <a:rPr lang="en-US" sz="3600" b="1" dirty="0">
                <a:solidFill>
                  <a:schemeClr val="bg1"/>
                </a:solidFill>
                <a:latin typeface="Calibri" pitchFamily="34" charset="0"/>
                <a:ea typeface="Calibri" pitchFamily="34" charset="-122"/>
                <a:cs typeface="Calibri" pitchFamily="34" charset="-120"/>
              </a:rPr>
              <a:t>Every scent tells a story- ADD THIS LINE</a:t>
            </a:r>
            <a:endParaRPr lang="en-GB" sz="3600" b="1" dirty="0">
              <a:solidFill>
                <a:schemeClr val="bg1"/>
              </a:solidFill>
            </a:endParaRPr>
          </a:p>
        </p:txBody>
      </p:sp>
    </p:spTree>
    <p:extLst>
      <p:ext uri="{BB962C8B-B14F-4D97-AF65-F5344CB8AC3E}">
        <p14:creationId xmlns:p14="http://schemas.microsoft.com/office/powerpoint/2010/main" val="2035573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5062-79ED-7465-9328-8207FDF03857}"/>
              </a:ext>
            </a:extLst>
          </p:cNvPr>
          <p:cNvSpPr>
            <a:spLocks noGrp="1"/>
          </p:cNvSpPr>
          <p:nvPr>
            <p:ph type="ctrTitle"/>
          </p:nvPr>
        </p:nvSpPr>
        <p:spPr/>
        <p:txBody>
          <a:bodyPr/>
          <a:lstStyle/>
          <a:p>
            <a:r>
              <a:rPr lang="en-GB" dirty="0"/>
              <a:t>CHANGE BACKGROUND COLOR TO BOLT</a:t>
            </a:r>
          </a:p>
        </p:txBody>
      </p:sp>
      <p:sp>
        <p:nvSpPr>
          <p:cNvPr id="3" name="Subtitle 2">
            <a:extLst>
              <a:ext uri="{FF2B5EF4-FFF2-40B4-BE49-F238E27FC236}">
                <a16:creationId xmlns:a16="http://schemas.microsoft.com/office/drawing/2014/main" id="{1D1C48A4-C271-E9C8-A496-1F700F822D5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24920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9EEA-1645-E74B-6B2E-50228FA1F5D1}"/>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8AD95D76-62B8-485C-01AC-11D43006C5A7}"/>
              </a:ext>
            </a:extLst>
          </p:cNvPr>
          <p:cNvSpPr>
            <a:spLocks noGrp="1"/>
          </p:cNvSpPr>
          <p:nvPr>
            <p:ph type="subTitle" idx="1"/>
          </p:nvPr>
        </p:nvSpPr>
        <p:spPr/>
        <p:txBody>
          <a:bodyPr/>
          <a:lstStyle/>
          <a:p>
            <a:endParaRPr lang="en-GB" dirty="0"/>
          </a:p>
        </p:txBody>
      </p:sp>
      <p:pic>
        <p:nvPicPr>
          <p:cNvPr id="5" name="Picture 4">
            <a:extLst>
              <a:ext uri="{FF2B5EF4-FFF2-40B4-BE49-F238E27FC236}">
                <a16:creationId xmlns:a16="http://schemas.microsoft.com/office/drawing/2014/main" id="{EF378F44-0017-85A1-6C3E-4917F7BCADF6}"/>
              </a:ext>
            </a:extLst>
          </p:cNvPr>
          <p:cNvPicPr>
            <a:picLocks noChangeAspect="1"/>
          </p:cNvPicPr>
          <p:nvPr/>
        </p:nvPicPr>
        <p:blipFill>
          <a:blip r:embed="rId2"/>
          <a:stretch>
            <a:fillRect/>
          </a:stretch>
        </p:blipFill>
        <p:spPr>
          <a:xfrm>
            <a:off x="2354224" y="2460700"/>
            <a:ext cx="8120804" cy="2098525"/>
          </a:xfrm>
          <a:prstGeom prst="rect">
            <a:avLst/>
          </a:prstGeom>
        </p:spPr>
      </p:pic>
      <p:sp>
        <p:nvSpPr>
          <p:cNvPr id="6" name="TextBox 5">
            <a:extLst>
              <a:ext uri="{FF2B5EF4-FFF2-40B4-BE49-F238E27FC236}">
                <a16:creationId xmlns:a16="http://schemas.microsoft.com/office/drawing/2014/main" id="{50222A84-CA03-7BB8-883E-B9E5D0DCA9E0}"/>
              </a:ext>
            </a:extLst>
          </p:cNvPr>
          <p:cNvSpPr txBox="1"/>
          <p:nvPr/>
        </p:nvSpPr>
        <p:spPr>
          <a:xfrm>
            <a:off x="4559490" y="3824282"/>
            <a:ext cx="5745707" cy="461665"/>
          </a:xfrm>
          <a:prstGeom prst="rect">
            <a:avLst/>
          </a:prstGeom>
          <a:solidFill>
            <a:srgbClr val="FFFF00"/>
          </a:solidFill>
        </p:spPr>
        <p:txBody>
          <a:bodyPr wrap="square" rtlCol="0">
            <a:spAutoFit/>
          </a:bodyPr>
          <a:lstStyle/>
          <a:p>
            <a:r>
              <a:rPr lang="en-GB" sz="2400" b="1" dirty="0"/>
              <a:t>FOR ORDERS SPEAK TO US </a:t>
            </a:r>
          </a:p>
        </p:txBody>
      </p:sp>
    </p:spTree>
    <p:extLst>
      <p:ext uri="{BB962C8B-B14F-4D97-AF65-F5344CB8AC3E}">
        <p14:creationId xmlns:p14="http://schemas.microsoft.com/office/powerpoint/2010/main" val="3017389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6B65-D769-C84E-FBD5-29EB892FB657}"/>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47130EA1-EB31-3D0C-C174-CBCDC0F7956E}"/>
              </a:ext>
            </a:extLst>
          </p:cNvPr>
          <p:cNvSpPr>
            <a:spLocks noGrp="1"/>
          </p:cNvSpPr>
          <p:nvPr>
            <p:ph type="subTitle" idx="1"/>
          </p:nvPr>
        </p:nvSpPr>
        <p:spPr/>
        <p:txBody>
          <a:bodyPr/>
          <a:lstStyle/>
          <a:p>
            <a:endParaRPr lang="en-GB"/>
          </a:p>
        </p:txBody>
      </p:sp>
      <p:pic>
        <p:nvPicPr>
          <p:cNvPr id="5" name="Picture 4">
            <a:extLst>
              <a:ext uri="{FF2B5EF4-FFF2-40B4-BE49-F238E27FC236}">
                <a16:creationId xmlns:a16="http://schemas.microsoft.com/office/drawing/2014/main" id="{0DEE4972-3B90-638B-E846-8A267790BF5A}"/>
              </a:ext>
            </a:extLst>
          </p:cNvPr>
          <p:cNvPicPr>
            <a:picLocks noChangeAspect="1"/>
          </p:cNvPicPr>
          <p:nvPr/>
        </p:nvPicPr>
        <p:blipFill>
          <a:blip r:embed="rId2"/>
          <a:stretch>
            <a:fillRect/>
          </a:stretch>
        </p:blipFill>
        <p:spPr>
          <a:xfrm>
            <a:off x="0" y="2393106"/>
            <a:ext cx="12192000" cy="2071787"/>
          </a:xfrm>
          <a:prstGeom prst="rect">
            <a:avLst/>
          </a:prstGeom>
        </p:spPr>
      </p:pic>
      <p:sp>
        <p:nvSpPr>
          <p:cNvPr id="6" name="TextBox 5">
            <a:extLst>
              <a:ext uri="{FF2B5EF4-FFF2-40B4-BE49-F238E27FC236}">
                <a16:creationId xmlns:a16="http://schemas.microsoft.com/office/drawing/2014/main" id="{B777DCA4-9950-B30F-A348-CB32146CAA07}"/>
              </a:ext>
            </a:extLst>
          </p:cNvPr>
          <p:cNvSpPr txBox="1"/>
          <p:nvPr/>
        </p:nvSpPr>
        <p:spPr>
          <a:xfrm>
            <a:off x="5520519" y="1023582"/>
            <a:ext cx="6387153" cy="369332"/>
          </a:xfrm>
          <a:prstGeom prst="rect">
            <a:avLst/>
          </a:prstGeom>
          <a:solidFill>
            <a:srgbClr val="FF0000"/>
          </a:solidFill>
        </p:spPr>
        <p:txBody>
          <a:bodyPr wrap="square" rtlCol="0">
            <a:spAutoFit/>
          </a:bodyPr>
          <a:lstStyle/>
          <a:p>
            <a:r>
              <a:rPr lang="en-GB" b="1" dirty="0">
                <a:solidFill>
                  <a:schemeClr val="bg1"/>
                </a:solidFill>
              </a:rPr>
              <a:t>PLEASE WORK ON ITS ALIGNMNET.</a:t>
            </a:r>
          </a:p>
        </p:txBody>
      </p:sp>
    </p:spTree>
    <p:extLst>
      <p:ext uri="{BB962C8B-B14F-4D97-AF65-F5344CB8AC3E}">
        <p14:creationId xmlns:p14="http://schemas.microsoft.com/office/powerpoint/2010/main" val="35241517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0D99-236B-C6E1-C45B-5CADC2918290}"/>
              </a:ext>
            </a:extLst>
          </p:cNvPr>
          <p:cNvSpPr>
            <a:spLocks noGrp="1"/>
          </p:cNvSpPr>
          <p:nvPr>
            <p:ph type="title"/>
          </p:nvPr>
        </p:nvSpPr>
        <p:spPr/>
        <p:txBody>
          <a:bodyPr/>
          <a:lstStyle/>
          <a:p>
            <a:r>
              <a:rPr lang="en-GB" dirty="0"/>
              <a:t>ADD ALL 5 FLAVORS. SHOW SOAP IN ALL 5 PICTURES. </a:t>
            </a:r>
          </a:p>
        </p:txBody>
      </p:sp>
      <p:sp>
        <p:nvSpPr>
          <p:cNvPr id="3" name="Content Placeholder 2">
            <a:extLst>
              <a:ext uri="{FF2B5EF4-FFF2-40B4-BE49-F238E27FC236}">
                <a16:creationId xmlns:a16="http://schemas.microsoft.com/office/drawing/2014/main" id="{317F8BA2-5E73-D601-01E5-9DAA97386267}"/>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614C1633-F04B-A10D-AA5F-2E669DF30233}"/>
              </a:ext>
            </a:extLst>
          </p:cNvPr>
          <p:cNvPicPr>
            <a:picLocks noChangeAspect="1"/>
          </p:cNvPicPr>
          <p:nvPr/>
        </p:nvPicPr>
        <p:blipFill>
          <a:blip r:embed="rId2"/>
          <a:stretch>
            <a:fillRect/>
          </a:stretch>
        </p:blipFill>
        <p:spPr>
          <a:xfrm>
            <a:off x="2271712" y="2338667"/>
            <a:ext cx="9170194" cy="3678607"/>
          </a:xfrm>
          <a:prstGeom prst="rect">
            <a:avLst/>
          </a:prstGeom>
        </p:spPr>
      </p:pic>
    </p:spTree>
    <p:extLst>
      <p:ext uri="{BB962C8B-B14F-4D97-AF65-F5344CB8AC3E}">
        <p14:creationId xmlns:p14="http://schemas.microsoft.com/office/powerpoint/2010/main" val="1809813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86D02-D34A-581E-EDEF-3329242CB5FC}"/>
              </a:ext>
            </a:extLst>
          </p:cNvPr>
          <p:cNvSpPr>
            <a:spLocks noGrp="1"/>
          </p:cNvSpPr>
          <p:nvPr>
            <p:ph type="title"/>
          </p:nvPr>
        </p:nvSpPr>
        <p:spPr/>
        <p:txBody>
          <a:bodyPr/>
          <a:lstStyle/>
          <a:p>
            <a:r>
              <a:rPr lang="en-GB" dirty="0"/>
              <a:t>AI VIDEO</a:t>
            </a:r>
          </a:p>
        </p:txBody>
      </p:sp>
      <p:pic>
        <p:nvPicPr>
          <p:cNvPr id="5" name="Picture 4">
            <a:extLst>
              <a:ext uri="{FF2B5EF4-FFF2-40B4-BE49-F238E27FC236}">
                <a16:creationId xmlns:a16="http://schemas.microsoft.com/office/drawing/2014/main" id="{6B181213-CE45-5DDE-684C-BFEDF4F4112A}"/>
              </a:ext>
            </a:extLst>
          </p:cNvPr>
          <p:cNvPicPr>
            <a:picLocks noChangeAspect="1"/>
          </p:cNvPicPr>
          <p:nvPr/>
        </p:nvPicPr>
        <p:blipFill>
          <a:blip r:embed="rId3"/>
          <a:stretch>
            <a:fillRect/>
          </a:stretch>
        </p:blipFill>
        <p:spPr>
          <a:xfrm>
            <a:off x="727261" y="1532730"/>
            <a:ext cx="9815233" cy="4960145"/>
          </a:xfrm>
          <a:prstGeom prst="rect">
            <a:avLst/>
          </a:prstGeom>
        </p:spPr>
      </p:pic>
      <p:sp>
        <p:nvSpPr>
          <p:cNvPr id="6" name="TextBox 5">
            <a:extLst>
              <a:ext uri="{FF2B5EF4-FFF2-40B4-BE49-F238E27FC236}">
                <a16:creationId xmlns:a16="http://schemas.microsoft.com/office/drawing/2014/main" id="{858A41E2-956E-DC9E-E754-DC6ADABEA869}"/>
              </a:ext>
            </a:extLst>
          </p:cNvPr>
          <p:cNvSpPr txBox="1"/>
          <p:nvPr/>
        </p:nvSpPr>
        <p:spPr>
          <a:xfrm>
            <a:off x="5701553" y="2877671"/>
            <a:ext cx="3092823" cy="646331"/>
          </a:xfrm>
          <a:prstGeom prst="rect">
            <a:avLst/>
          </a:prstGeom>
          <a:solidFill>
            <a:schemeClr val="tx1"/>
          </a:solidFill>
        </p:spPr>
        <p:txBody>
          <a:bodyPr wrap="square" rtlCol="0">
            <a:spAutoFit/>
          </a:bodyPr>
          <a:lstStyle/>
          <a:p>
            <a:r>
              <a:rPr lang="en-GB" sz="3600" b="1" dirty="0">
                <a:solidFill>
                  <a:schemeClr val="bg1"/>
                </a:solidFill>
              </a:rPr>
              <a:t>video</a:t>
            </a:r>
          </a:p>
        </p:txBody>
      </p:sp>
    </p:spTree>
    <p:extLst>
      <p:ext uri="{BB962C8B-B14F-4D97-AF65-F5344CB8AC3E}">
        <p14:creationId xmlns:p14="http://schemas.microsoft.com/office/powerpoint/2010/main" val="3330719493"/>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E172E-FBB2-50C8-83F2-68EF8C2B78E5}"/>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53FFA4DC-12E7-2919-C4DB-7E3E66A8E5AF}"/>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9C69F3EB-6268-9117-67A2-944ED3526FD3}"/>
              </a:ext>
            </a:extLst>
          </p:cNvPr>
          <p:cNvPicPr>
            <a:picLocks noChangeAspect="1"/>
          </p:cNvPicPr>
          <p:nvPr/>
        </p:nvPicPr>
        <p:blipFill>
          <a:blip r:embed="rId2"/>
          <a:stretch>
            <a:fillRect/>
          </a:stretch>
        </p:blipFill>
        <p:spPr>
          <a:xfrm>
            <a:off x="480137" y="867307"/>
            <a:ext cx="11118186" cy="3754041"/>
          </a:xfrm>
          <a:prstGeom prst="rect">
            <a:avLst/>
          </a:prstGeom>
        </p:spPr>
      </p:pic>
      <p:pic>
        <p:nvPicPr>
          <p:cNvPr id="7" name="Picture 6">
            <a:extLst>
              <a:ext uri="{FF2B5EF4-FFF2-40B4-BE49-F238E27FC236}">
                <a16:creationId xmlns:a16="http://schemas.microsoft.com/office/drawing/2014/main" id="{B1E796F3-E925-E1FD-EA10-7ECFD47C29AE}"/>
              </a:ext>
            </a:extLst>
          </p:cNvPr>
          <p:cNvPicPr>
            <a:picLocks noChangeAspect="1"/>
          </p:cNvPicPr>
          <p:nvPr/>
        </p:nvPicPr>
        <p:blipFill>
          <a:blip r:embed="rId3"/>
          <a:stretch>
            <a:fillRect/>
          </a:stretch>
        </p:blipFill>
        <p:spPr>
          <a:xfrm>
            <a:off x="2121664" y="4113672"/>
            <a:ext cx="7948671" cy="2528906"/>
          </a:xfrm>
          <a:prstGeom prst="rect">
            <a:avLst/>
          </a:prstGeom>
        </p:spPr>
      </p:pic>
      <p:sp>
        <p:nvSpPr>
          <p:cNvPr id="8" name="TextBox 7">
            <a:extLst>
              <a:ext uri="{FF2B5EF4-FFF2-40B4-BE49-F238E27FC236}">
                <a16:creationId xmlns:a16="http://schemas.microsoft.com/office/drawing/2014/main" id="{88268912-7CD3-673C-352D-E26B15C4C989}"/>
              </a:ext>
            </a:extLst>
          </p:cNvPr>
          <p:cNvSpPr txBox="1"/>
          <p:nvPr/>
        </p:nvSpPr>
        <p:spPr>
          <a:xfrm>
            <a:off x="6498691" y="1520993"/>
            <a:ext cx="1575737" cy="646331"/>
          </a:xfrm>
          <a:prstGeom prst="rect">
            <a:avLst/>
          </a:prstGeom>
          <a:solidFill>
            <a:srgbClr val="FF0000"/>
          </a:solidFill>
        </p:spPr>
        <p:txBody>
          <a:bodyPr wrap="square" rtlCol="0">
            <a:spAutoFit/>
          </a:bodyPr>
          <a:lstStyle/>
          <a:p>
            <a:r>
              <a:rPr lang="en-GB" sz="3600" b="1" dirty="0">
                <a:solidFill>
                  <a:schemeClr val="bg1"/>
                </a:solidFill>
              </a:rPr>
              <a:t>OLD</a:t>
            </a:r>
          </a:p>
        </p:txBody>
      </p:sp>
    </p:spTree>
    <p:extLst>
      <p:ext uri="{BB962C8B-B14F-4D97-AF65-F5344CB8AC3E}">
        <p14:creationId xmlns:p14="http://schemas.microsoft.com/office/powerpoint/2010/main" val="1226412831"/>
      </p:ext>
    </p:extLst>
  </p:cSld>
  <p:clrMapOvr>
    <a:masterClrMapping/>
  </p:clrMapOvr>
</p:sld>
</file>

<file path=ppt/theme/theme1.xml><?xml version="1.0" encoding="utf-8"?>
<a:theme xmlns:a="http://schemas.openxmlformats.org/drawingml/2006/main" name="Wonder Brief">
  <a:themeElements>
    <a:clrScheme name="Wonder Brief">
      <a:dk1>
        <a:srgbClr val="2B2418"/>
      </a:dk1>
      <a:lt1>
        <a:srgbClr val="FFFFFF"/>
      </a:lt1>
      <a:dk2>
        <a:srgbClr val="8A6A1F"/>
      </a:dk2>
      <a:lt2>
        <a:srgbClr val="F7F1E3"/>
      </a:lt2>
      <a:accent1>
        <a:srgbClr val="B8902F"/>
      </a:accent1>
      <a:accent2>
        <a:srgbClr val="8A6A1F"/>
      </a:accent2>
      <a:accent3>
        <a:srgbClr val="D9C48A"/>
      </a:accent3>
      <a:accent4>
        <a:srgbClr val="6B5B3A"/>
      </a:accent4>
      <a:accent5>
        <a:srgbClr val="E9DDBF"/>
      </a:accent5>
      <a:accent6>
        <a:srgbClr val="A39574"/>
      </a:accent6>
      <a:hlink>
        <a:srgbClr val="8A6A1F"/>
      </a:hlink>
      <a:folHlink>
        <a:srgbClr val="6B5B3A"/>
      </a:folHlink>
    </a:clrScheme>
    <a:fontScheme name="Wonder Brief">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1316</TotalTime>
  <Words>1672</Words>
  <Application>Microsoft Office PowerPoint</Application>
  <PresentationFormat>Widescreen</PresentationFormat>
  <Paragraphs>213</Paragraphs>
  <Slides>33</Slides>
  <Notes>18</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Georgia</vt:lpstr>
      <vt:lpstr>Wonder Brief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CHANGE BACKGROUND COLOR TO BOLT</vt:lpstr>
      <vt:lpstr>PowerPoint Presentation</vt:lpstr>
      <vt:lpstr>PowerPoint Presentation</vt:lpstr>
      <vt:lpstr>ADD ALL 5 FLAVORS. SHOW SOAP IN ALL 5 PICTURES. </vt:lpstr>
      <vt:lpstr>AI VIDEO</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Ghazi Fareed</cp:lastModifiedBy>
  <cp:revision>5</cp:revision>
  <dcterms:created xsi:type="dcterms:W3CDTF">2026-10-23T03:13:03Z</dcterms:created>
  <dcterms:modified xsi:type="dcterms:W3CDTF">2026-10-24T12:45:38Z</dcterms:modified>
</cp:coreProperties>
</file>